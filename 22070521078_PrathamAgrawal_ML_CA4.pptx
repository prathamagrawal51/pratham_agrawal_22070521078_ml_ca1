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4" r:id="rId3"/>
    <p:sldId id="265" r:id="rId4"/>
    <p:sldId id="257" r:id="rId5"/>
    <p:sldId id="261" r:id="rId6"/>
    <p:sldId id="260" r:id="rId7"/>
    <p:sldId id="262" r:id="rId8"/>
    <p:sldId id="263" r:id="rId9"/>
    <p:sldId id="266" r:id="rId10"/>
    <p:sldId id="267" r:id="rId11"/>
    <p:sldId id="275" r:id="rId12"/>
    <p:sldId id="276" r:id="rId13"/>
    <p:sldId id="277" r:id="rId14"/>
    <p:sldId id="278" r:id="rId15"/>
    <p:sldId id="269" r:id="rId16"/>
    <p:sldId id="270" r:id="rId17"/>
    <p:sldId id="279" r:id="rId18"/>
    <p:sldId id="280" r:id="rId19"/>
    <p:sldId id="281" r:id="rId20"/>
    <p:sldId id="282" r:id="rId21"/>
    <p:sldId id="271" r:id="rId22"/>
    <p:sldId id="268" r:id="rId23"/>
    <p:sldId id="272" r:id="rId24"/>
    <p:sldId id="259" r:id="rId25"/>
    <p:sldId id="273" r:id="rId26"/>
    <p:sldId id="27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CC99"/>
    <a:srgbClr val="000099"/>
    <a:srgbClr val="FF7C80"/>
    <a:srgbClr val="996633"/>
    <a:srgbClr val="00FFCC"/>
    <a:srgbClr val="FF66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3FEEA-7EF8-4B4F-B647-AD5DE229E75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9EBBD-D052-4B1B-97A1-FED2D203A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50551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21C35-106D-45D2-98A3-D27A656E76D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554F3-B0BD-42B2-A7DD-86BA5FCB81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83174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3962-4865-4228-81E3-00D3CFBC0BFA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8300" y="6445250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7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9816-9E0E-4378-B675-9EC54FD6E1EE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27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0435-5393-459B-B8D1-48E7839C38C5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54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6B79-AEBC-4F2D-871B-4F95F7AD7A80}" type="datetime1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64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45F7-ABF2-4D18-ACD2-7BD0A8EF4B83}" type="datetime1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33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6FB-CD15-47C6-89EF-F7FE10D1EED8}" type="datetime1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89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808B-F1D3-4175-85AD-E8FCCDE72517}" type="datetime1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76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C0D1-6746-44E2-8941-ACBF328B313B}" type="datetime1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092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EB3B-693B-49EE-AD0C-7C04F31CDB5B}" type="datetime1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72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663D-5144-4E9D-ACC1-AE116A0B35F1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19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2366-8802-4337-B04F-63ED80D84AF4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4D1D-AFCB-4734-808E-3BDFE7C445A8}" type="datetime1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38A635C9-4A98-4745-BD96-9D0E32025E6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7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%2F%2Fwww.who.int%2Fdata%2Fsets%2Fglobal-excess-deaths-associated-with-covid-19-modelled-estimat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ratham-covidexcessdeathsdashboard.streamlit.app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thamAgrawal51/Pratham_Agrawal_22070521078_ML_CA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hyperlink" Target="https://www.google.com/url?q=https%3A%2F%2Fwww.who.int%2Fdata%2Fsets%2Fglobal-excess-deaths-associated-with-covid-19-modelled-estimates" TargetMode="External"/><Relationship Id="rId4" Type="http://schemas.openxmlformats.org/officeDocument/2006/relationships/hyperlink" Target="https://pratham-covidexcessdeathsdashboard.streamlit.app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0" y="2528039"/>
            <a:ext cx="12192000" cy="1631216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Analysis &amp; Prediction of Global COVID-19 Excess Mortality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 Machine Learning Approach Using the WHO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806089" y="5825069"/>
            <a:ext cx="65798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Symbiosis Institute of Technology, Nagpur Campus</a:t>
            </a:r>
            <a:endParaRPr lang="ko-KR" altLang="en-US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1169220" y="1285115"/>
            <a:ext cx="98535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ML Results Presentation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900949" y="3885651"/>
            <a:ext cx="6390099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altLang="ko-KR" sz="20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Pratham Agrawal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PRN: 22070521078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Sem: VII C</a:t>
            </a:r>
          </a:p>
          <a:p>
            <a:pPr algn="ctr"/>
            <a:r>
              <a:rPr lang="en-US" altLang="ko-KR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Under the guidance of 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Dr. Piyush Chauhan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B2E5E-F1FB-4B49-A15E-DFC13B0843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5E93E9-4624-4300-9736-8AD2206DE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28FEAF-D49A-46B9-89E4-097BE7C6552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D876396-B2E8-4260-95F0-7F807CEBB33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54FF9D1-6089-4D74-8D8E-6D117769508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88BD84-AC78-42E3-8E80-878DF5182085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D1FACAF-51FC-4BC7-B86A-37A0AE818A3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1F696F5-C936-4257-ABAE-CFB663A4F5B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E7360DC-5C0F-466D-84A8-E0EE6E3AB0F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8DE8446-7C37-470B-9371-440B4896B7B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9F2E292-A6A3-445D-9144-E683946C0A1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E1355B59-DD0D-4CAB-945D-A12DD9E80FE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91E57E2-15BD-41FF-A3AD-FEF3ACD07BA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CC6ABAB-5C29-44A4-B49A-A3C7C7F7BCB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A71DD83-8022-4143-A93D-17DDAFFAB86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1418661-1F77-4FAD-B4FD-28B2B041E7F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05CCC8A-C19B-40FE-BEEF-912A84A1EF9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FBCACE-24A6-48D1-B13B-8F9FE120388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2CB76F8-C735-44B5-9A98-9F2B9379252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55127DA-3EE1-42DE-BA8E-69E101C286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2C10520-9F80-4BE2-B993-5B905B809D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DB92882-0CF1-413E-8743-7A1E01EF2B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932F542-36CC-4138-A432-576700346F8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6B041A-5F1A-40C1-9584-D5563AB6A19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C697974-1EFD-497C-8F1B-DEAA82EB7A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5C2CAB8-8604-4E04-9F23-99A720B6CD6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8959DD7-B4AB-4F69-BB5B-9840CF94E3C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7EB0FDD-9AD7-4386-8559-CE3745BCEC8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ABA9570-C479-4F46-AD41-88F10E26579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96970B8-F5CB-412E-8251-9AF0578354D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D00D20E-2B63-4792-A233-43481FD84B2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73ECCA-6F31-4A69-856A-82645EA1C11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21AFFC-1334-4BF1-A96A-FBE5CE0E32B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FA386D3-FCFC-4630-B8F1-3144BCEA5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3EF3BC0-98DA-4218-B9E8-F47FA1C11F3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7645674-65CD-4C60-AE13-2D7A5DFAF5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1FC57F3-C93D-4A02-AA2A-37F81573623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96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9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2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1" y="190223"/>
            <a:ext cx="6879350" cy="999746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3" name="Rectangle 2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47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546C9-9681-3707-2F18-C2DCA7F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6CFA7CD1-2016-300C-2FEE-D2E5AED41417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BA22288-9B28-403D-5C90-8EA84450B61E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A11EB7B-8ADF-0FE1-8938-8B588CEA9629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49CC50AC-D3AA-B42A-9A20-A09F83ED1A17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EE7294E8-6DFF-DDEF-60C1-E334E4BC96AB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63F168FC-3FAD-EB66-1F99-43B9CC772CE1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7613D550-60FE-884A-D1D2-D9AD6C978EB9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A665FC06-FB67-5480-5DC0-B5D8C267FD67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F0153AEB-46AD-94B2-1844-D964DB189964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DBBDCEFB-85F7-8986-CBC2-16B84376B0E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DFF90EAB-BFDF-52A9-96B3-EB942424FCD1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C5AEFE1-308C-AD7E-D8D1-FECFEB079AC8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00E74658-16B4-457A-8331-132BCB85EE2D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4F8BAFA5-159E-7CCB-69D4-E164C5C31FC7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2819E2A1-4853-5CD0-93E2-F51AE21875AC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5ED0B53B-6194-5045-A0D0-EE0C0DD3C3D9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4AFB038C-075D-D737-9E8B-5577891D8439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2A0945B6-1774-FA71-AC11-F450270EC08D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3F9EBB4D-E4B4-B328-0AAB-1B3BFBE908F3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3B19CA02-C09F-E670-A36E-54DBE0608860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7AA224BC-3D5D-4609-9890-3469B55CCF63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0D9F30EC-79E5-7238-BB80-1E901A67B86A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350EEE38-7652-C044-0255-7131C8FCC604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C545DF85-3D68-C4F8-2E8A-0D6CDF21F30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21B1AEF4-B0AA-91A1-7925-1B33EC262D14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0180FC6C-2447-CCF2-A345-59F530DE8458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004F9564-FD6A-4473-2851-C0FC7C957E96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B8FCEB11-ABA7-48E0-F78D-DA95ADFD28F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304B4E75-CCA2-2DBF-EACA-79BE53A65013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869FC6E7-BD27-DD07-06C9-501F5EC34B9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164B1F50-9DED-B908-4999-24F260EF865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7C6FB368-D6FD-358E-2319-DEE395514B4E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6E5680CA-08BA-90CA-17E8-C97A4AD2BC5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7EBA3A58-C544-2EFD-48F3-235B3B836BC6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F23AA893-CCD2-5503-DE90-BB33D46505F6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4AED16D1-3BCC-1447-A9E5-17A73E72C0C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CA7059DB-1505-7BE9-064E-993FEE8F47F5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65E15773-22F1-B8DD-1B95-130834977F56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F55EE03-15F7-D349-05B2-884F94D562B5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568CF813-5F14-4175-8ACB-2442C6FE5BE3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F517FDD3-E714-029A-4DCF-714B54748CE4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5AAD4732-B19E-477F-5DCB-E88E83A274B4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89507706-3302-50B9-4F0A-FF85757602DC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126037F8-DCE6-FC3C-F854-E157D282FE1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25A5D0AD-9933-A98C-5FC6-99725D313A55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12151548-2BC5-4AB3-D6E2-2DC07B405E33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8743417-D5E7-3F28-E6BD-71FCC44A5E7C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DA7FA5A2-6DF5-F699-FF00-AE0FFA1466D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1EB9F455-8527-9FED-CBA6-30C1249B13A6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14B8ACA8-0BC8-7684-FE79-28F2803A020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225BAE1F-A642-5B86-D6BD-36532F9D1614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69099E0D-2BBB-CE4B-CDF0-7FB15584B63C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ABCF3F42-55B8-22DF-C2E1-1E3F3C7FD41C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1E4F6A3A-3260-FE06-0A29-A13828563694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57A0553D-2420-1F39-94D0-4F4E2CE0D29E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5F0BC89-C054-C207-65AE-4317D695F7CD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E252E4B4-E3E9-7634-F932-DB45F7594D87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1D8729D7-338F-BA6B-0899-448BEBD0768E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9EBD7A84-0125-BB76-A93D-5068EC656FB9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D6AA39D0-CE38-574E-0E50-7E3AC6758238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0341D80B-6F8B-5AB6-E73D-3BAA3484B6F4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4A07A9BB-8F8F-09B7-ED35-BF6BF8471221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5867CAB5-5B28-553D-D364-66CB947ABCA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CD5B2BED-E3F4-212D-D827-43A6F42EDE2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624F9CC0-7E37-5AA6-B8C2-AC8870C7D60F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F759012C-895E-95AC-8954-5B6A5FC5FF9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1C70CAF8-78AC-C7C9-9397-259B25292D91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E26D6901-FDB7-B705-EA0E-84226EF8DF5C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FBA7A3D6-BB49-7127-534A-F9331B446286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C44AD732-88A8-BEFC-DEE1-333C8705356F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80977E33-F49D-B5D4-8F1D-550F92B7E3FA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51DA7285-8584-2FD6-18DB-2FC85832FB63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9D2B3F43-DEAB-C5B9-96DF-2433A969B84A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0D852FDD-EF89-76AB-C5C3-FDC8A947B708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B115420-6021-FE53-2107-920AD617FE76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Project Agenda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22988-33B8-B198-3190-6B8AF2D721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21E50-B02E-DA5A-025F-D3191B20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75162-7587-8C34-0865-A6068C931E10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cs typeface="Arial" panose="020B0604020202020204" pitchFamily="34" charset="0"/>
              </a:rPr>
              <a:t>A</a:t>
            </a:r>
            <a:r>
              <a:rPr lang="en-IN" b="1" dirty="0">
                <a:cs typeface="Arial" panose="020B0604020202020204" pitchFamily="34" charset="0"/>
              </a:rPr>
              <a:t>genda of this project: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EC43F-9A78-2257-D2D7-5BD21DF4D73B}"/>
              </a:ext>
            </a:extLst>
          </p:cNvPr>
          <p:cNvSpPr txBox="1"/>
          <p:nvPr/>
        </p:nvSpPr>
        <p:spPr>
          <a:xfrm>
            <a:off x="680439" y="1235496"/>
            <a:ext cx="10568405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Project Workflow:</a:t>
            </a:r>
            <a:r>
              <a:rPr lang="en-US" dirty="0"/>
              <a:t> Our step-by-step pipeline.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Introduction:</a:t>
            </a:r>
            <a:r>
              <a:rPr lang="en-US" dirty="0"/>
              <a:t> Project Objectives &amp; The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Preprocessing:</a:t>
            </a:r>
            <a:r>
              <a:rPr lang="en-US" dirty="0"/>
              <a:t> Cleaning &amp; Feature Engineering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Exploratory Data Analysis (EDA):</a:t>
            </a:r>
            <a:r>
              <a:rPr lang="en-US" dirty="0"/>
              <a:t> Getting Key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Machine Learning Implementation using multiple models: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Task 1: Regression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Task 2: Classification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Task 3: Applying Neural Networks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Task 4: Clustering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Model Evaluation:</a:t>
            </a:r>
            <a:r>
              <a:rPr lang="en-US" dirty="0"/>
              <a:t> Identifying the Best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Final Application:</a:t>
            </a:r>
            <a:r>
              <a:rPr lang="en-US" dirty="0"/>
              <a:t> The "Future Risk Predictor" Dashboard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Conclusion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08E1C0-E034-DC0B-406D-6539C77AB7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396"/>
          <a:stretch>
            <a:fillRect/>
          </a:stretch>
        </p:blipFill>
        <p:spPr>
          <a:xfrm>
            <a:off x="10848464" y="5002022"/>
            <a:ext cx="1161661" cy="124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3384-7D0D-6EC3-8CCB-282C9EEA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4E5824AE-893E-2140-D6D1-5107C94559D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6F0C210-A8BB-2EB8-19F0-DBAC2CC60F7D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3EEAB1B-DE83-D750-E0BE-FDF5A54EC1C0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D9B4C926-BF80-49C2-86DB-DF851C29296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1FB03496-B351-8AD7-5D77-551D6857AB03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9CFA85F6-6CF8-4ECE-D4F0-75CDDFA2870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388AF32-B688-647E-E1D0-2153F6919BB9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7662A1A3-8788-2D21-2B56-E3444B27B56C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75AC24A2-8EA5-889A-E536-07FEC42EF1F1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8BA7F127-471B-F187-80F2-D4CB2CB37A90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2ABE345D-7BBF-C02F-E9AC-64F8C20D31F0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97243D2F-589D-F8BB-777E-2FD3BA15780E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553F4947-6EF1-7FCD-67B5-3C0FF8AA1198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5816E248-C4FA-8607-C0AC-F603ACEFCF5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BA0F0573-49B8-F0A2-415D-07098C17C44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A396CCCB-B638-C1F6-9153-929E2AECAE4A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BBFF4B6B-FBD6-670A-2C27-4C1424898B72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329C78DD-9F7E-16A5-9902-41E8C4AE1657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B3AEE77A-7E21-A735-451B-C1A2F987446C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69656ADA-1DC2-4BBE-8AF1-106AEEEB5390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AE797145-BB7F-88E9-C653-AD7AB5AAE682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02C4B0E3-E05C-3215-07F0-35F731B6D1B9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2E5228D7-9528-BC0E-8B42-C8934DCFC7A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1C32CDB0-0365-7103-1AA1-83AE8A3ABE9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8AFEC78A-0A1F-7763-BD37-21231155CCA9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D85B9155-E52C-4319-FE58-392B5F8E3D74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16611003-412C-0E95-5997-2309C30AE490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83AB12CA-F3EA-71EF-27EE-7B066227E8DC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56379383-FE7C-EB14-B205-4C2602D4B5DD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BE29C946-AC49-3880-EF6A-3B004B146085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8304021E-CAD4-B86A-4A16-D3691A00BE3B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F804559C-11A3-C62A-39F8-502B4D331BF1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E6EC6794-1B7D-8F53-639F-BCFE4BF96A4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B3D6CBE5-035B-4AD1-306F-60F0485F9502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56667C5-73AF-AEC7-E0EA-BC6111D6C907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DF9D8645-D95B-7302-3EB6-D6532D874D84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5AFC5EA7-7DC2-123F-F396-CEB5B78B854E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4F33C50F-9B5D-4721-397C-FB63742D90C8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530BEDE-EFDD-DAF8-E89F-23DE7C60D3C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C1C2005E-8561-0377-FAD3-3E22CD03F7AE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2D648C71-494A-1295-7872-BAE98EB23D0B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A35783CA-7C62-B392-4ACB-A316E28F933E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AD860BF7-369D-609F-335F-2158FD4E9032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F7F7328A-E7EB-EC85-1AAB-64251FB550D3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FB9370B0-F2C2-7190-9BDD-D25A12B760A0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B0FAAA59-FB6A-A9E1-A578-CEF470FC5C30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D8E3430E-84F0-2ACD-0648-D8B57EF4D6D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123C074B-A9AE-1DCC-943F-96AFEB666AD5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770863CF-E2EC-6411-C576-08623304C50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C3A0C601-89D5-DE38-4606-80F199D5427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90E3CFA-80C4-06B1-5517-B7760B539A67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4FAFC16D-9F4F-5B93-750D-4AF32F166416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8FA08D40-FFAE-970A-76CC-88F9BE129C21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6F82ECD7-6834-6DB7-16BA-85ABD4DE242A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DD7870DD-E380-DF4E-84EB-1E6BCE82F595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4D4E3225-360F-2D32-6085-F827EF320141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BADD7EA8-D0B6-0D53-B4BC-BA1E4690E024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88F5063F-71F2-41D3-07E8-E4F28D5117B7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55B305FC-4AEA-3848-90A0-FFBC2FF72EDF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AEDD9567-9CC8-5713-27A0-1F3D27C7D0A7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4F2CB3F1-3CC8-43ED-A462-766B93DDAF16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11DE0E3B-6235-5343-F29A-63FE626C21B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0DE40016-5E13-440A-DEE5-300BE8F942A6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A91216E3-D653-3C58-9D59-A35062C86CD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1A16049E-7395-6F3B-EC73-AAD9011C4ADB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90CB5D00-CC64-46A8-3421-EB66DC35ED92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34B7F399-35DB-0F80-F086-193F5F467A8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39108B6F-A17C-8EEE-8358-DDF1D0E160FE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5C2EC701-729B-88ED-0BFB-81EBFB4EFB8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43840195-F20E-5131-5CC6-1536B090234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F3A506E5-480D-EC82-A993-984314A6BAA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777D3E61-905E-396C-891A-D246E12C2BF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D1D0318E-E1D4-4BE6-02E2-D5662CEB6B9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F4206F71-B1ED-A14A-56B8-329276281B81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35E7CCB-C7DF-6570-DFA4-3C855EFABCB9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Project Workflow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BA376-F0D9-3B1D-4C17-4E73508219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BCFF7-52E0-2D12-1D52-04CBF44F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0050D-4B65-F7E0-0BD5-92EB697446C0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Project Pipeline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66DEEF-A6A6-EF18-F233-AF092E7ED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086" y="1258655"/>
            <a:ext cx="6669620" cy="45002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43FD52-24EF-2629-C5DF-B949C9D61622}"/>
              </a:ext>
            </a:extLst>
          </p:cNvPr>
          <p:cNvSpPr txBox="1"/>
          <p:nvPr/>
        </p:nvSpPr>
        <p:spPr>
          <a:xfrm>
            <a:off x="4933693" y="5763161"/>
            <a:ext cx="2324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1:</a:t>
            </a:r>
            <a:r>
              <a:rPr lang="en-US" sz="1400" dirty="0"/>
              <a:t> Our Project Pipeline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99598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B2E5E-F1FB-4B49-A15E-DFC13B0843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5E93E9-4624-4300-9736-8AD2206DE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28FEAF-D49A-46B9-89E4-097BE7C6552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D876396-B2E8-4260-95F0-7F807CEBB33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54FF9D1-6089-4D74-8D8E-6D117769508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88BD84-AC78-42E3-8E80-878DF5182085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D1FACAF-51FC-4BC7-B86A-37A0AE818A3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1F696F5-C936-4257-ABAE-CFB663A4F5B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E7360DC-5C0F-466D-84A8-E0EE6E3AB0F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8DE8446-7C37-470B-9371-440B4896B7B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9F2E292-A6A3-445D-9144-E683946C0A1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E1355B59-DD0D-4CAB-945D-A12DD9E80FE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91E57E2-15BD-41FF-A3AD-FEF3ACD07BA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CC6ABAB-5C29-44A4-B49A-A3C7C7F7BCB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A71DD83-8022-4143-A93D-17DDAFFAB86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1418661-1F77-4FAD-B4FD-28B2B041E7F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05CCC8A-C19B-40FE-BEEF-912A84A1EF9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FBCACE-24A6-48D1-B13B-8F9FE120388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2CB76F8-C735-44B5-9A98-9F2B9379252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55127DA-3EE1-42DE-BA8E-69E101C286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2C10520-9F80-4BE2-B993-5B905B809D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DB92882-0CF1-413E-8743-7A1E01EF2B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932F542-36CC-4138-A432-576700346F8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6B041A-5F1A-40C1-9584-D5563AB6A19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C697974-1EFD-497C-8F1B-DEAA82EB7A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5C2CAB8-8604-4E04-9F23-99A720B6CD6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8959DD7-B4AB-4F69-BB5B-9840CF94E3C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7EB0FDD-9AD7-4386-8559-CE3745BCEC8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ABA9570-C479-4F46-AD41-88F10E26579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96970B8-F5CB-412E-8251-9AF0578354D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D00D20E-2B63-4792-A233-43481FD84B2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73ECCA-6F31-4A69-856A-82645EA1C11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21AFFC-1334-4BF1-A96A-FBE5CE0E32B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FA386D3-FCFC-4630-B8F1-3144BCEA5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3EF3BC0-98DA-4218-B9E8-F47FA1C11F3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7645674-65CD-4C60-AE13-2D7A5DFAF5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1FC57F3-C93D-4A02-AA2A-37F81573623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Introduction &amp; Project Objectives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E2E92-2859-4265-0C43-BF5839CDB116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cs typeface="Arial" panose="020B0604020202020204" pitchFamily="34" charset="0"/>
              </a:rPr>
              <a:t>What is "Excess Death"?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3D909-C396-A556-23E6-2BE6CCABA930}"/>
              </a:ext>
            </a:extLst>
          </p:cNvPr>
          <p:cNvSpPr txBox="1"/>
          <p:nvPr/>
        </p:nvSpPr>
        <p:spPr>
          <a:xfrm>
            <a:off x="680439" y="1235496"/>
            <a:ext cx="1056840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r>
              <a:rPr lang="en-US" dirty="0"/>
              <a:t> "Excess Death" is the most comprehensive measure of the pandemic's true impact. It's the number of deaths from all causes that are </a:t>
            </a:r>
            <a:r>
              <a:rPr lang="en-US" i="1" dirty="0"/>
              <a:t>above</a:t>
            </a:r>
            <a:r>
              <a:rPr lang="en-US" dirty="0"/>
              <a:t> what we would normally expect to see.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Formula: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Excess Deaths = Total Deaths - Expected Deaths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It captures not only the confirmed COVID-19 deaths but also the indirect effects, such as deaths from overwhelmed healthcare systems.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E0493D-0DD9-6825-7759-BE0E04E568C4}"/>
              </a:ext>
            </a:extLst>
          </p:cNvPr>
          <p:cNvSpPr txBox="1"/>
          <p:nvPr/>
        </p:nvSpPr>
        <p:spPr>
          <a:xfrm>
            <a:off x="364718" y="370853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>
                <a:cs typeface="Arial" panose="020B0604020202020204" pitchFamily="34" charset="0"/>
              </a:rPr>
              <a:t>Project Objectives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3024FE-ADD8-3A55-B635-271C13E7E04C}"/>
              </a:ext>
            </a:extLst>
          </p:cNvPr>
          <p:cNvSpPr txBox="1"/>
          <p:nvPr/>
        </p:nvSpPr>
        <p:spPr>
          <a:xfrm>
            <a:off x="680438" y="4077865"/>
            <a:ext cx="10568405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Analyze</a:t>
            </a:r>
            <a:r>
              <a:rPr lang="en-US" dirty="0"/>
              <a:t> global excess death patterns across countries, years, and demographics.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Build &amp; Evaluate</a:t>
            </a:r>
            <a:r>
              <a:rPr lang="en-US" dirty="0"/>
              <a:t> machine learning models to predict future outcomes.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Develop</a:t>
            </a:r>
            <a:r>
              <a:rPr lang="en-US" dirty="0"/>
              <a:t> an interactive dashboard to make these insights accessible.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8F285D9-5222-9BF2-A616-7E248D494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649" y="3577255"/>
            <a:ext cx="210502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38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7D1E8-8C2C-C813-D941-269E1347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7931063F-74C1-7A61-69BD-B7CADE08C24D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097C480-DFFC-94DE-7381-B9B3D7406785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7365C12-06C4-B68B-5E16-47D97A69F2A8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08F470F1-396D-E24C-E7FE-5E0E6C6260A7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B640914-DC88-0B7F-1EE5-F848D04067E0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F3C8611F-4461-70F8-326A-40FA4E836273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D07A6ABE-20BE-C979-458E-E4B134752DA7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F4264026-B351-ED30-4D92-9AE673A80AC7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55EE915D-E338-8808-EE7F-B21AE7352B5E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8D940DAF-B806-4FE6-74CC-DB0074E868D7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E0817452-E653-87AD-DDCE-30C9F355201F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D82FA55-A694-24A3-3E01-AAC0F8D0438B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B3E956C6-2343-0834-1E82-6EEFE93A9D96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59B5A7CE-12BC-76D6-FCF3-3041C4195D80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95723B4B-7331-099E-B5E6-B1EE0EA78C2F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385AAF14-C953-91B5-CDB8-3864778A728B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5EB7AB7-62E8-6ADE-7D7A-DFFF78368F35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2E80F2B-D466-046F-FF92-9002406A0537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2614C80C-0EB9-2578-5822-9963F8B03FEE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5668E478-AB36-B3FE-017A-5D87CB86041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72170FDF-2541-1456-E132-87522E198767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4136730F-888E-2EFC-0E5B-78FD4294F01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ACAD21C7-DEC3-852A-97C2-D5C249792EE2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AFB77F09-BCD9-6753-49E6-2AECE2D13D41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C8D69505-0565-635C-5194-5DAE15591600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DA66B036-3F8E-4C11-659A-A9284B6C3774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2E6395B-B694-F375-5AB3-BCE2348ACEE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5FEAD1E1-45F5-377C-DBB3-8C56B3BF772D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3CCDAD3F-EF8E-8C90-ED83-5A37098167F7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840C1A61-B542-4DF4-92CD-6B1F5D001F7A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5AE5BC4B-8001-E322-8F75-2C70BB24EE33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2013AFB4-459A-2A97-3DB4-B41600E15AC2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0E88E7F-3AE4-B3EF-9B49-3A0FB0735BF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4D239F92-7806-8004-7421-FFD7770AA647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FA964D40-1857-BA7E-5B72-2CBEAC7176B7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D3C98D02-01F0-9BF1-D4C4-DA4CB7B30739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3F6694C9-76AC-76FE-02A4-CA41D1506F44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49879EE6-1BB7-4BDD-E1E4-0300DA2E73C2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2F3668E-C3DE-EC91-E220-DC864CF28FF2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4AC5D492-92CC-2FFC-4635-D31679475C3C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E70E89EA-77C5-8458-117A-0E141F8E3F31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8FFEC821-14BE-B77C-6FF2-86FC3795BC3D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BD49D2A3-E321-6235-2A74-18F004283D0B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D3AD4792-165B-8D51-14F7-AA39ECB85908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0DB60BE7-6921-F686-60C0-CBB59A0D711F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56C30986-9D96-86C0-8CF5-ADFB1FC9EA54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09A0C30B-AC98-A866-D329-BF6A12792C58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B46564E3-2372-F100-601D-964EFD09CA05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C1C40411-1415-E2D7-1AEC-4C96D1DBC231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47F53B38-D6FF-B723-FC21-CBAE429A2A5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148CE83-C4CB-5F8F-4261-BAE7D0D8BF1D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121117B1-2EAF-97CE-D9C4-F162BEECF62B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A74D3125-1A07-550D-9827-6AB25FBBC0A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303480F0-009A-7D97-6F46-DF5A512709E3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75B659AD-B78B-DC62-A669-E465F7C0D794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4819B331-52D2-7335-B88F-9761661D7B2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46E71314-65E6-6ED3-084C-219DA2702441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F3B46447-3467-9B40-B71C-15079862A97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5B44180C-B0DC-DCE9-BC08-578B45B131F2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CE32DC87-36E2-2301-F5A4-6EA970EC25C2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89FF8952-1D8C-5553-AB01-83D7D52652AB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7E27F767-1C59-4518-485C-BD412896CB7A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55B84114-FC8E-C417-4C0C-EF16B0802264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63578132-4ED2-0CC2-6C10-62B4A81B99E7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2003DBFC-AB4C-5D0A-261F-44CC9842829D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67278720-E069-C1AB-C495-19B6DE32B29D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B10B8177-4436-19BD-D1CB-99748631BC39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E04C16D4-090C-3198-3A82-0069A94FB62A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C68FF38E-0768-12E3-A262-31290D3FCA8B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8C26D82-1B62-328D-EF00-017A5F7830D1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1BBCA982-D7BD-9F5D-630D-3065CB9D3395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DE1BA8D8-8883-A5C9-67CF-AC3DC6CD67C8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ED0117D6-632D-5BB7-784C-21EDC2F4D690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BAB7155F-23A6-4686-F755-842D08DF619A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2F8C9A8-3755-884B-87BB-586DE52B2053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Dataset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BCFDE-845D-547F-0345-BA682EF2E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CE0A47-218A-496D-454A-84AA4F00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5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D2C3A-1024-7C42-15E1-A9CF11208BFC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cs typeface="Arial" panose="020B0604020202020204" pitchFamily="34" charset="0"/>
              </a:rPr>
              <a:t>The WHO Excess Deaths Dataset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105A8-DE3B-35B7-0FA7-7A4B7CB2C9E4}"/>
              </a:ext>
            </a:extLst>
          </p:cNvPr>
          <p:cNvSpPr txBox="1"/>
          <p:nvPr/>
        </p:nvSpPr>
        <p:spPr>
          <a:xfrm>
            <a:off x="680439" y="1235496"/>
            <a:ext cx="10568405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Source:</a:t>
            </a:r>
            <a:r>
              <a:rPr lang="en-US" dirty="0"/>
              <a:t> World Health Organization (WHO)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Scope:</a:t>
            </a:r>
            <a:r>
              <a:rPr lang="en-US" dirty="0"/>
              <a:t> Covers data from 2020-2021 for 194 countries.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country: The country of observation.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year: 2020 or 2021.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sex: Male or Female.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age_group: e.g., '0-24', '65-74', '&gt;85'.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expectedmean: The baseline number of deaths normally expected.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acmmean: The actual all-cause mortality (ACM) recorded.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excessmean: Our primary target variable (ACM - Expected).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54DEC2-75C2-8D7D-A0DC-8C09CD7F98FE}"/>
              </a:ext>
            </a:extLst>
          </p:cNvPr>
          <p:cNvSpPr txBox="1"/>
          <p:nvPr/>
        </p:nvSpPr>
        <p:spPr>
          <a:xfrm>
            <a:off x="94266" y="5871621"/>
            <a:ext cx="1237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rgbClr val="1F1F1F"/>
                </a:solidFill>
                <a:effectLst/>
              </a:rPr>
              <a:t> </a:t>
            </a:r>
            <a:r>
              <a:rPr lang="en-IN" b="1" i="0" dirty="0">
                <a:solidFill>
                  <a:srgbClr val="1F1F1F"/>
                </a:solidFill>
                <a:effectLst/>
              </a:rPr>
              <a:t>Authentic Dataset Link: </a:t>
            </a:r>
            <a:r>
              <a:rPr lang="en-IN" b="0" i="0" dirty="0">
                <a:solidFill>
                  <a:srgbClr val="0B57D0"/>
                </a:solidFill>
                <a:effectLst/>
                <a:hlinkClick r:id="rId3"/>
              </a:rPr>
              <a:t>https://www.who.int/data/sets/global-excess-deaths-associated-with-covid-19-modelled-estimates</a:t>
            </a:r>
            <a:endParaRPr lang="en-IN" dirty="0"/>
          </a:p>
        </p:txBody>
      </p:sp>
      <p:pic>
        <p:nvPicPr>
          <p:cNvPr id="14" name="Picture 13" descr="ffgff">
            <a:extLst>
              <a:ext uri="{FF2B5EF4-FFF2-40B4-BE49-F238E27FC236}">
                <a16:creationId xmlns:a16="http://schemas.microsoft.com/office/drawing/2014/main" id="{A2E97BD3-60ED-21A9-9871-8BCF11430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183" y="1235496"/>
            <a:ext cx="4136382" cy="23211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F5FED9-AB56-CE0F-4846-66360EE81D3A}"/>
              </a:ext>
            </a:extLst>
          </p:cNvPr>
          <p:cNvSpPr txBox="1"/>
          <p:nvPr/>
        </p:nvSpPr>
        <p:spPr>
          <a:xfrm>
            <a:off x="8428008" y="3556631"/>
            <a:ext cx="2269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2:</a:t>
            </a:r>
            <a:r>
              <a:rPr lang="en-US" sz="1400" dirty="0"/>
              <a:t> Raw Data Structure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36682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1838-42F2-B1C0-A526-629B23C76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B9A3415B-6CDD-57A0-13C7-3B3F45076E94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001ECE6-7CE3-7DDD-E76C-7C5DBFEA1C78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2B6B2BB-79C0-35AD-284E-CD4DC5ED0EA4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28D37794-1FB0-E48D-191A-674C9C1429E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57870C73-F0BC-6282-A57E-118A69277464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081986A0-8793-87BB-7EFF-893E605BD6FB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7313C4EC-D26F-9FED-EB82-94402453337C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AB9E995C-4024-5C06-3939-9D1650B22DB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63BFA663-DDB9-1A12-F0ED-498913267B07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ED150786-4052-7B27-4B60-F206FC8C7025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A73D078E-8463-49BB-5367-28BADA23ECA6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90BBD837-00FF-1D82-DE34-D29D77FB8F42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14EBE9F0-2DE5-BB1A-EE86-2B3778EC4609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243341E5-CADD-32E7-8B91-5499F39FF91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4D428BB1-5773-393E-5E89-6B81F9A7DBC8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63A9123D-A8B2-9029-AC48-3460B3BA0508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EC4EF0BA-612C-D237-96FA-A3603180FA54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BDBAB1B6-32C2-AD3C-30EC-776134898F63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E75F95D9-C774-4CC8-4BCA-5BF57AF4E868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BD849BFE-DCBE-89B3-15F5-B66227CE641E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FDC0FA20-357C-5114-C42C-8D0A4BC104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202A5CD4-CAD2-AEF2-98BD-883A931FA8A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ADFAD786-79B1-F002-19FC-C636A3F33998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FB6A90D9-9F38-89A9-9536-F7F136137C70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05CB08A3-A800-F906-498B-7E0F5E36A0D7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E4671137-2C92-757A-A989-353A1F627F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1A017792-365C-311B-2A7F-454C8B937FB9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19A54885-1B46-D571-32D7-AA94D874D5CD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E49CAB3A-5975-7332-37BB-137DC34DAF3F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720C93CD-E652-3D35-FAF3-CC995501EA1E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E4ECD84B-EADC-F112-841B-E34D3D0B2B59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F97E0B0D-D0F3-7463-EDD5-42E6DF468BBD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EC772A-F983-2685-1F2A-FDC56B81508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0CA9DC9B-2F80-1556-D294-C882A14E8826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3B6A03BF-4059-5355-AAD5-EFEF92F282DF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295B6201-C252-ADB4-393B-3B39A4709DF9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22692310-8802-CA94-08F2-892F97ECC955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7E0A55CD-9E73-9C5C-132C-90923016CED0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41B2EAF-03D1-D966-BFD7-2940B24E7B2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814400D8-9147-7BD7-EFF3-718C8DD0B152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3B96F9E7-FFC5-7DDF-EA12-A19246361DA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EF7D8D7B-EB0B-628E-A3F8-9D5B675C979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84C46F94-59D6-C77E-3129-9CF6FCC1B8CE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97135CAA-4868-5B01-9483-E373B3F36BE3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D0BE06BC-7F51-3A1F-B4CF-E9FD25FAC587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3B4359EE-52D0-E9C0-B77C-97DA63195EEA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AD7D9794-4DA9-C2C7-CF5F-B14F15AC86A8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F262BD5E-36D4-25C6-8BA8-4DF6ED556D44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0E03F184-CCAC-6A04-94F4-14B6BA043FA1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A658D2A3-3ED7-955F-1239-4341B222E76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91B1840-8DA4-0F38-A31F-47B876A25E3D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AE1897C2-3598-6E2D-1FC2-B98551EBB737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BED725CB-5A0B-2F0D-A06F-FC324C858B87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37BDD934-49C3-1F7D-D854-659556733F76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2A9FA65C-69C3-8B82-6121-F396C24CCD2F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F6020D55-FCB0-7EEF-A895-EBC79FAD47CA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E553BDCA-A196-B3EE-36FE-ED88CFD6F7B7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B71755AB-33D5-6F60-6FBF-B58FE24C5B6F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86ABC688-2209-2034-6ECB-862FCD56D1A7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A8F9BEBF-45CE-91F8-3210-61A0A4FC393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37EC5A5F-FCF2-2A34-E557-3FA59868B94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FA720A12-87DC-10D1-3A7B-C87CE819B9F4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05A87619-0A1F-DEAB-23DC-0452AE76C8E4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A4D782B1-C291-24D8-D981-0A8DB19A6AA2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513E709C-7E90-E6EA-6F9F-AEDDCF6CBC62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A4750D0D-8DE8-D55A-369F-8A40A1B34CDB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08BFDF83-1AEF-FBDD-CADA-CF96E357502E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45DDD2EC-B943-8CD7-554C-977E72B233DD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B8F6C72B-4180-EDD6-5502-4635E6F561DB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9185E94-BAE7-CED6-74A0-0F37A4EF18DB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CCB77805-C77A-9718-6013-82808BB6E4D8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7124CDB7-0335-2004-0D07-B8F345263F1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7F3993AF-EEBC-4DBD-7D89-682C43B13CC3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00BB8B8A-E28C-50B7-6037-A782755D445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F45B6A2-504E-677B-A81D-7C6D7A48283B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Data Preprocessing &amp; Feature Engineering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8BEB70-2CAE-FFA9-5B9D-2BD8C3DC27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8AB2E-1D44-DE2D-A5DA-28EF137C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6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151A1-7787-144E-2A84-5C9BEC498612}"/>
              </a:ext>
            </a:extLst>
          </p:cNvPr>
          <p:cNvSpPr txBox="1"/>
          <p:nvPr/>
        </p:nvSpPr>
        <p:spPr>
          <a:xfrm>
            <a:off x="360298" y="740302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cs typeface="Arial" panose="020B0604020202020204" pitchFamily="34" charset="0"/>
              </a:rPr>
              <a:t>Preparing the Data for Machine Learning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2BB18-B4CA-0DA1-1D81-02250041948F}"/>
              </a:ext>
            </a:extLst>
          </p:cNvPr>
          <p:cNvSpPr txBox="1"/>
          <p:nvPr/>
        </p:nvSpPr>
        <p:spPr>
          <a:xfrm>
            <a:off x="211142" y="1003043"/>
            <a:ext cx="11616139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Cleaning:</a:t>
            </a:r>
            <a:endParaRPr lang="en-US" dirty="0"/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Standard procedures were applied, including checking for null values and ensuring correct data types for analysis.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Feature Engineering: Creating "Risk Level"</a:t>
            </a:r>
            <a:endParaRPr lang="en-US" dirty="0"/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was the most critical step for our classification task.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excessmean (a number) was converted into a </a:t>
            </a:r>
            <a:r>
              <a:rPr lang="en-US" i="1" dirty="0"/>
              <a:t>category</a:t>
            </a:r>
            <a:r>
              <a:rPr lang="en-US" dirty="0"/>
              <a:t>.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 used quantiles to divide the data into three equal groups, creating a new target variable: Low Risk, Medium Risk, High Risk.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allowed us to train models to predict a </a:t>
            </a:r>
            <a:r>
              <a:rPr lang="en-US" i="1" dirty="0"/>
              <a:t>number</a:t>
            </a:r>
            <a:r>
              <a:rPr lang="en-US" dirty="0"/>
              <a:t> and assess a </a:t>
            </a:r>
            <a:r>
              <a:rPr lang="en-US" i="1" dirty="0"/>
              <a:t>risk level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92E0F-4A7E-09D2-B933-E97F8812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875" y="4766198"/>
            <a:ext cx="5950247" cy="1351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B75D13-D3DC-D292-DA64-6B6F4135409F}"/>
              </a:ext>
            </a:extLst>
          </p:cNvPr>
          <p:cNvSpPr txBox="1"/>
          <p:nvPr/>
        </p:nvSpPr>
        <p:spPr>
          <a:xfrm>
            <a:off x="3638014" y="6065226"/>
            <a:ext cx="4762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3:</a:t>
            </a:r>
            <a:r>
              <a:rPr lang="en-US" sz="1400" dirty="0"/>
              <a:t> Data Structure after cleaning and feature engineering.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24426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97F7-3208-FAF8-9CFA-7C284DE8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42AB076A-3665-D777-7C9A-79C8B2A8368C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79EFD2E-0C9D-CC7F-5820-405F280E7A7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AC40E7E-A402-4ECF-168E-909438F27640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001B81B9-B0A1-6069-6BE4-C59BF05F16B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42849D46-BF0B-0843-25E7-82A0CDA8F9A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3BF04515-5B2A-00C0-B089-C513845D72C6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F8BDB75C-58CE-04DB-1292-2AA1B6F6A7F4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A24F6E8F-EF6E-8336-EBFB-6B9D74EA24F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3A579509-6024-8147-609C-AF6B145B8F07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87C0156C-58CC-8D7B-EB7D-02A258E81430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91CE289C-A6BF-8FF8-2CEA-A1F169A730D6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02B28B7D-C537-CE2C-D96E-343B3094199A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4B1A19E4-2ABE-64BC-52E3-A92EA0D44E49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DADC1818-2CC6-1EDA-1337-F4B2108D4AF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E985084D-1A62-D89D-664C-E8DDF92C065D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EBE46E48-5A89-287E-38EC-4B750F591D85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59D925F1-C879-5709-E636-1B8AAF7DBB09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9EF3A256-563B-956D-3954-A543D7D38A2C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2E3121FE-70FE-C676-0E7E-456CC5CD8CB8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C4486B2F-9A7F-C27E-194A-906A33FEB5B3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4B3D45FA-778E-807B-AE78-FCD44F50B451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145B7CA-8235-ACDF-886F-871AD77CA082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83FD61A2-1B1F-DBF7-9C19-476B82EBD304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9A46FA3C-9617-E23D-06D4-02A9D714BF83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20FCD721-9DAE-5D00-21E2-ED94E946CD6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18D1928F-1CC5-B533-5CF7-710C850FBB68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983D656E-452A-214D-4AD6-6F69B565282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11F40237-4376-18F6-F248-AA1C6D10F871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54BC75D2-73F1-DC38-DF22-CA30C7EC7FB6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F53CF17-5B23-EFAA-99F3-A58E9F10476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1E27A454-2631-C851-D13E-DE87F72FCE76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5581D4D7-AC2C-3CDA-B732-F99C5E7852B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B86B441E-FC58-8B6A-755C-DD2D263C387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99D7E0F8-4F70-9942-269A-E98586FDA639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FA641B9F-5D0C-B75E-FCAF-9E36C72C584F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A86C82B2-DCD8-2836-3B5B-FC2DDF9F5215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9ACE70B7-509E-A4EB-2028-569DEDCAEF73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824FCB3D-FB4B-BBD8-A525-96BE2975E38E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0AB0B01-C112-F91E-54B6-57168DD19B2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73997AF3-1CAE-85CB-9F49-85EA842C1EA5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9D19313B-DCC3-6FCF-0E55-19D6F4F7181B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FC8B04DE-1764-800E-FE8B-90C8981B455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DBD0066F-CE3F-E021-404F-90E8AEE196E3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AF42B714-F2AA-4669-A2DB-6B9C59E882E8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6777DF35-61D6-52F7-6C40-035475FB019F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381B4C7F-C6C2-79CD-1D5D-C8E45C72A87B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7FCD7F7-D24F-3353-B0E3-21187DBC18A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640554A8-06FD-0AAA-39AF-CE0AB7E80D44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7B5CF197-ABC5-8256-3286-477C3A3F4537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5B270769-C3E3-1099-86F5-81AE7D3601EB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8FA0964C-6686-9A70-544B-4DF502150271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99BCEADF-F076-FD73-A8D4-2156CF30BC5E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D2209AB2-A47F-AEF6-83BB-4FECBC0D0BD0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5751A7F6-A3C3-0FFE-B836-CEEED1A3B94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248215DB-1F03-8B33-3C05-3AB7B85DB5CB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5449F652-194F-DDE1-E502-A51AEC9A4F1F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CD9AC45E-AA90-30F9-FACA-F2BB9E80CA1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1B77A57B-CF9B-2296-7CF5-DF9FE5F0D4B3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0DC197D8-E792-C94A-F45E-E6B23A272A89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F91D2F7E-1DDB-8A90-ACE5-5F3D4960921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C9041E48-4174-6479-26FB-21662041AD56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FFBD385E-5741-13C0-940A-F07D1F5BE512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F941AE4F-8325-804E-C52A-FBE12013F0E9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7B78703C-5DC7-FC18-2A4C-DD90CDE4F97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F8D2B84B-F320-EE23-7653-599E501734C3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428D09B4-32E8-BA5E-AC9E-9D65AB6311F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AC29D2C2-DCDA-F311-FA9B-24FACCAF4469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C106C642-302F-847F-5D17-28713AEFB122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3ACF254A-6273-24FE-1F93-DE8CBD507C33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99C6B7D4-57BB-475C-48F1-538F2B69E2C3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C18D61AA-AC3D-EDE6-015D-9660BAC4A13F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8580B662-BBF3-CF26-A0C3-FD8FF6942189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58A0C964-0634-705A-8BA6-ABD78BB360B2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7733CD57-C8C3-A351-4CA1-A383B01873A1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1EFBC5E-6D97-680A-DFB3-86C57FCACA00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Exploratory Data Analysis (EDA)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D7D36-BBD8-F851-568F-408042A61B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DC5E1-951A-11F5-4B9B-B82C50B2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7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0EAFD-E1CA-D92E-022C-ADB9BC7687A8}"/>
              </a:ext>
            </a:extLst>
          </p:cNvPr>
          <p:cNvSpPr txBox="1"/>
          <p:nvPr/>
        </p:nvSpPr>
        <p:spPr>
          <a:xfrm>
            <a:off x="364718" y="77901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cs typeface="Arial" panose="020B0604020202020204" pitchFamily="34" charset="0"/>
              </a:rPr>
              <a:t>Finding the Key Patterns in the Data</a:t>
            </a:r>
            <a:r>
              <a:rPr lang="en-IN" b="1" dirty="0">
                <a:cs typeface="Arial" panose="020B0604020202020204" pitchFamily="34" charset="0"/>
              </a:rPr>
              <a:t> 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CCDB6-AD08-089F-AFE1-E0F768CB9CC4}"/>
              </a:ext>
            </a:extLst>
          </p:cNvPr>
          <p:cNvSpPr txBox="1"/>
          <p:nvPr/>
        </p:nvSpPr>
        <p:spPr>
          <a:xfrm>
            <a:off x="364718" y="1973548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EDA Result 1: The Global View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65BBA2-9F99-2004-9526-DE249841AB93}"/>
              </a:ext>
            </a:extLst>
          </p:cNvPr>
          <p:cNvSpPr txBox="1"/>
          <p:nvPr/>
        </p:nvSpPr>
        <p:spPr>
          <a:xfrm>
            <a:off x="680132" y="2203205"/>
            <a:ext cx="5097518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Our first finding was the sheer scale: over </a:t>
            </a:r>
            <a:r>
              <a:rPr lang="en-US" b="1" dirty="0"/>
              <a:t>15 million</a:t>
            </a:r>
            <a:r>
              <a:rPr lang="en-US" dirty="0"/>
              <a:t> excess deaths globally in 2020 and 2021.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impact was heavily concentrated. Countries like </a:t>
            </a:r>
            <a:r>
              <a:rPr lang="en-US" b="1" dirty="0"/>
              <a:t>India, Russia, the United States, and Brazil</a:t>
            </a:r>
            <a:r>
              <a:rPr lang="en-US" dirty="0"/>
              <a:t> showed the highest cumulative excess mortality.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Other regions, like Australia and parts of East Asia, had mortality rates at or even below expected levels.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China refused to share internal data during pandemic period.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5D54A-F800-8612-01E0-7A8A724F7250}"/>
              </a:ext>
            </a:extLst>
          </p:cNvPr>
          <p:cNvSpPr txBox="1"/>
          <p:nvPr/>
        </p:nvSpPr>
        <p:spPr>
          <a:xfrm>
            <a:off x="749339" y="1044797"/>
            <a:ext cx="11077943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/>
              <a:t>Before we could build any models, we first had to understand the data. Our Exploratory Data Analysis focused on three key questions: Where was the impact greatest, and who was most affected?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D2FA0C-F9D8-A175-34B6-1C2C71AFE8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50" y="1987432"/>
            <a:ext cx="6150634" cy="34129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B8FAC8B-57A1-0B69-303D-D03DD079B798}"/>
              </a:ext>
            </a:extLst>
          </p:cNvPr>
          <p:cNvSpPr txBox="1"/>
          <p:nvPr/>
        </p:nvSpPr>
        <p:spPr>
          <a:xfrm>
            <a:off x="7083123" y="5400391"/>
            <a:ext cx="3539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4:</a:t>
            </a:r>
            <a:r>
              <a:rPr lang="en-US" sz="1400" dirty="0"/>
              <a:t> Global Distribution of Excess Deaths.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597151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6055-FB0F-4174-59B7-EBE258F3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9E422AAA-E524-BC0A-5D21-40B873A8A490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647F6CC-CBF1-90BD-E4EF-DBE110087D67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4501AFA-DCD8-D7E2-C5D5-04CCB394675B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42D936D-BAC8-EDA1-14CE-7D0728DB402B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58DBCC46-3374-23AC-9439-6B6881F9EE17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02C7620E-9149-E7A5-7EE8-FECB6C228AD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B744F6D1-694B-EAFD-617C-3CBBD4537868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1F6275C-2D79-795A-536B-314462D3E4A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6E45C8F8-1CFE-2A1A-0C34-D732A7D0A83D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DBE6873A-9C53-99F1-FEC5-ECF1DCB9939D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C5432969-E07C-2BCF-EC96-473B7C9715C1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C7FDBE75-6627-DF9C-345B-7F6CD84E4705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44A15078-432F-A110-9599-0773F46D405A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B6676B1F-A771-C361-29C5-C71AACC8A99F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82BAC139-1094-9415-AF70-D454CFA411BA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AC37DA9D-7FDE-4E9C-3443-0551CFF4889A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1007090D-8F40-B758-1403-E89AA6FAF537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85C7454-A281-212C-7DE8-3126D66E2826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3EF988A2-DFEC-2ABE-ED55-7A9B2F99251F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76EC44A9-F6B3-7473-AAD4-465BBDBBD152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2DA1353B-AB5A-AF85-E7BE-1721B077C433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85CF0598-338D-4065-CCF3-78DA1DA69EED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FFF0967B-12F6-D903-0494-A5B7F29C0B2C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764383D2-4938-8EB8-E413-C91CED7D72D8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4C6046CA-4204-5CBF-409C-86DD98DB8017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E52317E8-647E-BB03-777D-058804E415D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3A3EECC3-0C6D-AC4F-95C4-71E86ED5AD14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3FB6A566-9910-2C31-9D0E-16DF4942A169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167DDFD-DEF9-3128-49BD-681EC7E996B0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F125D5BE-F44E-7E38-F579-22593C60A81E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582E2B76-767F-7C41-AEDE-033DF36083BB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F9D79E09-06E2-CCA7-504B-73ECF4E8C10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AE969AE9-92D8-7571-913F-A1477E5DA0B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0F0CD0A8-3229-75B2-5139-EF074322A2EF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1680B646-5719-483D-07F6-9BC36434CB75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7DC75F0C-FD7F-B58B-9200-FBF3372B2C0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CFEA3911-1E62-B62C-0702-FEAEAFBA3F3A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3E891C04-BDE6-D817-1F47-D03D8FECC274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BD430F4-99FB-19B1-C8A6-54237D327F59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A59A031-531E-2AC9-D063-03394BCD5788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3E830AE9-CF6B-ECAC-8FD2-204C4422E854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5B71A357-BDA9-7213-0785-C8B22FE02DCF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2FA0509D-7716-C92F-A030-D465B35E5EDB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3953C4F0-63AA-B18B-D64E-6604CD214529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6CED83E2-28EA-68FF-56CD-7A084FD40E4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7720958A-FAF0-9ECB-E20F-C7A1CC6557FD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7B4FF1F3-0608-CC59-E3EE-4C32CE4762E6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555DB680-C74C-F8A0-E8A1-3E6DF56E32E0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905B8110-E401-34FD-910A-62CA2AEA2187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6B9ABCAF-233F-28EA-0ED2-900E2562D49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52E2FF01-A567-2EFE-7E44-D4095D1A4114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CA7786DE-4978-D7C8-2AED-A3506B81F46D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6AD6B774-15FF-1C40-BCE3-C7D38AEB3D54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976FF6EA-AFC5-9C23-E220-B05D8D75723E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78DE0DFC-E160-6439-1488-F3D78E8643C0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94A64EEF-A978-2772-2AB7-5557FE4EFE1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017F67B0-9A65-3235-DA16-F6A27AB42D52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FD3EFF58-0D0D-F0A5-852C-02960DBDA6ED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EED93C46-CF68-751D-2636-533CCAE68647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328CB29A-8D60-3775-3EBC-776CD9E50F2F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5C3E7693-196C-7B40-2B65-D56E101A9566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53FD88E7-C3EA-A944-BF72-E19625337BE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EA2B0B97-0233-A0C3-DDBD-4E6D9792BA07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10A37BB0-09DD-2D17-5E58-E759ECB4C63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8B0FF8DA-61A7-BEF1-7D28-8FCCD0FC9BE8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9E8797EB-07B6-A922-3EE1-36EDAD8D665A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5918DB1A-0A4B-952A-39A2-EBCE468F72E4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7D937F25-68F5-C7C4-F03B-128C88696EBB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D5C65F91-913A-0E3D-B333-1CA3BB4853F1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C083FE5A-B1B4-3F05-B1F5-7D734EC55EAD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91FDC8EB-4BF8-5B61-165D-DE228D58AA71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AFEC4D64-F1BE-276C-2A03-196966D3EF43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6544E394-75A0-EE9F-3D55-94C08FE454D9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6D90B808-8F9E-8C74-E41D-4136185796B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EEBFE69-3DCA-A9C7-13FA-6F8C970C3EF4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Exploratory Data Analysis (EDA)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D4C75-909C-5A2F-57D2-AAEF195F34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AC157B-C222-DAC8-22CC-EF92E3DB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8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A15E36-AED1-478A-A84A-DC879A894AE9}"/>
              </a:ext>
            </a:extLst>
          </p:cNvPr>
          <p:cNvSpPr txBox="1"/>
          <p:nvPr/>
        </p:nvSpPr>
        <p:spPr>
          <a:xfrm>
            <a:off x="364718" y="791175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EDA Result 2: Risk Dramatically Increases with Age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8AC849-342B-F430-FDE7-4154371B81BA}"/>
              </a:ext>
            </a:extLst>
          </p:cNvPr>
          <p:cNvSpPr txBox="1"/>
          <p:nvPr/>
        </p:nvSpPr>
        <p:spPr>
          <a:xfrm>
            <a:off x="211142" y="1033393"/>
            <a:ext cx="1056840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data confirms that age is the single most significant risk factor.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vast majority of excess deaths occurred in older populations.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'65-74', '75-84', and '&gt;85'</a:t>
            </a:r>
            <a:r>
              <a:rPr lang="en-US" dirty="0"/>
              <a:t> age groups consistently accounted for the largest share of mortality across almost all countries.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A3F3C2-F92F-76BB-E385-8834AB8AF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5" y="2703273"/>
            <a:ext cx="5628180" cy="326614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96974B-AF8D-A116-AF82-CEEF3D83F33E}"/>
              </a:ext>
            </a:extLst>
          </p:cNvPr>
          <p:cNvSpPr txBox="1"/>
          <p:nvPr/>
        </p:nvSpPr>
        <p:spPr>
          <a:xfrm>
            <a:off x="903760" y="6019341"/>
            <a:ext cx="4569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5:</a:t>
            </a:r>
            <a:r>
              <a:rPr lang="en-US" sz="1400" dirty="0"/>
              <a:t> Global Distribution of Excess Deaths by Age Group.</a:t>
            </a:r>
            <a:endParaRPr lang="en-IN" sz="1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CD4AB4F-C6C9-B35B-3462-5F7FFA0D3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03273"/>
            <a:ext cx="5732522" cy="32602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C12F6B-E714-C420-EB69-A01E72690B42}"/>
              </a:ext>
            </a:extLst>
          </p:cNvPr>
          <p:cNvSpPr txBox="1"/>
          <p:nvPr/>
        </p:nvSpPr>
        <p:spPr>
          <a:xfrm>
            <a:off x="6375655" y="6014670"/>
            <a:ext cx="5173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6:</a:t>
            </a:r>
            <a:r>
              <a:rPr lang="en-US" sz="1400" dirty="0"/>
              <a:t> Global Distribution of Excess Deaths by Age Group and Sex.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505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50B3A-37AF-34D8-83DE-63A156A94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700715B0-03F9-9CD5-9D84-B04E75419DC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BB6DCA6-952A-706B-2044-9059E6227E6F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3400137-BD3D-57B4-6A88-3E6BC614E8C2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96F7BC5D-0E2A-2546-D429-32FF323F9AC9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0D4C3177-A657-1B31-86BB-0AAAD070B3A8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AD2392B4-0280-C5D5-950A-DC816E5E8B45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4DF5AA6F-978C-DC6D-5547-BDEE3350C136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C279CD47-24F1-432A-E1B5-AD2ACA237DBB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67F77621-2139-08D8-C4ED-E21E2C00B403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9F6179D3-0A5A-29EB-9CB5-43ADCB21448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D7A3A51A-A2D1-55C8-2EA0-0352A3883FA9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4443FF8C-2B87-DEEE-FA6F-ECC98966A20A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45B61F53-4C20-23B7-E578-6E9AC93AF68D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D10E885C-8584-57DC-8CF2-ADE6B6C7231E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2DFF7CF7-C203-A098-08E0-330AE374A80C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6E5EFE1D-C671-1BFD-AB07-4B589AA13D75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EF3935BB-9CF6-A011-8BA0-0B8514FF962B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F954A713-C140-663A-66CF-1C82D26E0FD3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06EB7E-78BA-F1E6-10D9-AC9D280636CC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3E644D39-A4DE-E979-51B9-55DB304745C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89DD03CE-8CBD-8540-6734-3A8125E96F70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68BBA888-B5FC-24B0-2892-A62FE1FE0613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55D445D6-99A9-2164-F2FA-B31DC9532CF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AFBE6EF8-86DD-C98C-D9F9-7081B1CED912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E3EEF807-B0DD-1934-C410-6A2316E1667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5956E37B-F9E1-0D94-10E2-3A1DAD94070A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6CB4A75F-3CB7-8983-333F-13F6BC60892B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E8DAEB4F-1C6B-7327-6753-0908CBB073FD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F9627377-A752-1A03-2AD3-A547C9A6183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81C6E0EA-A9A7-4BB8-7AD4-42B7E7F49813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90825080-B49A-1F6B-8DC2-01C49646745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4F58922E-8D19-98D0-E691-A1F538E110C1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CB2C03D4-C925-FC71-1DE5-212AD14948DE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BB335F41-A26C-84DE-C7F3-949E789FF15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E958FCFD-CAE7-D888-2AAF-B57667D975B0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A10DBCA8-272C-7168-ED6C-F50602E75B3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3AA81B95-6B14-EC3C-7FE7-31930E37190B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37E8DA3-B3D1-F0AE-24DE-AC54A643FC55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3FBB9AB-1B0C-D333-A6C5-A380B583759D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4DE95DC3-271F-F5A4-C506-EE2BE7DFB400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59505F86-9F6E-D52E-F4A7-F33F5968649F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FE640E06-6883-4D91-4061-4F95E3F60438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1FAE5D65-FEC6-ED98-D62E-3841E78FE672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9E22A074-0C92-24AB-DECE-FBB25C5ECE17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86807316-4569-B574-0977-3D68A722E0BE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88B46276-E85E-36C2-AF30-FA207469921A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196ED11F-CF3D-829A-B660-98A5404CE478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117B6E0B-51A7-5793-8568-6ED49F312DDF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33DE13CB-1ACF-521F-6B1B-26FD0B9E2E6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4CD7285D-C262-621D-FF20-882D8C0AED84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D4849C3D-E0AC-2046-D4BD-344932026325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2F818BEF-B8F2-202C-6694-B8F5D514B02F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98EF1C76-B10E-7753-4381-1C39F7C49071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6F87806B-5305-C440-6340-09B1EBC2DF57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9CE4E62D-52E1-CCCA-C98E-10C071A232E9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213BA272-BFD7-C7DE-23C7-81309F1DE54F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0AAB17C3-0234-378F-5BE6-AB11A11746AC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563A944F-57F8-7078-C6F2-CAB0BC1E893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FB2E511F-60DD-50B6-1EF9-06B3C79AE5A6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68B6A1D9-835D-1693-6D8B-59910496DD9D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56423D0C-D4B6-7641-382D-BFEBA2162EF5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EF42F53-62AB-E585-64BA-04DA328C9EF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F9907A56-5680-AA93-0F26-421099F4F2B4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7D4ACF86-7C5E-B8A6-C081-CEC8B0EE756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4E71F30B-007F-12CD-284A-7E73B601540E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A44F372C-B7EF-7657-62AD-D3D13190FA2A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A480CC13-6025-3E3D-185E-CECAE4976CC1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A120AFC0-A0C9-915B-1ECD-225F76A93B3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6ACBBE4D-F7A8-7D4D-5E32-789A93E043E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D12E9F16-7164-EB24-B8C7-9C3B6AA21D02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2243744C-B02E-8724-3B69-025A26E0BFA7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AAB13C7A-8EA4-5BDE-C29B-C5AF231E2451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78CE3DC2-0A9D-EA6F-33A6-4E071E4663B7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727E5AAA-4512-9428-0E34-210A985C4086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AB26753-E8FB-3605-63F7-4CF912CFA351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Exploratory Data Analysis (EDA)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8A8C8-3857-03E2-51E9-A78D2070F2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31EB2-CAB8-B9E9-D88D-51AD7454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9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BB5ED-CB91-BD1E-BD8C-C595737F571E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cs typeface="Arial" panose="020B0604020202020204" pitchFamily="34" charset="0"/>
              </a:rPr>
              <a:t>EDA Result 3: A Significant &amp; Global Gender Gap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B5614-5BCB-CD76-F575-FAD29EFFE7F8}"/>
              </a:ext>
            </a:extLst>
          </p:cNvPr>
          <p:cNvSpPr txBox="1"/>
          <p:nvPr/>
        </p:nvSpPr>
        <p:spPr>
          <a:xfrm>
            <a:off x="680439" y="1235496"/>
            <a:ext cx="11085991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Our analysis also revealed a clear disparity by sex.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Globally, excess mortality was substantially higher for </a:t>
            </a:r>
            <a:r>
              <a:rPr lang="en-US" b="1" dirty="0"/>
              <a:t>Males</a:t>
            </a:r>
            <a:r>
              <a:rPr lang="en-US" dirty="0"/>
              <a:t> than for </a:t>
            </a:r>
            <a:r>
              <a:rPr lang="en-US" b="1" dirty="0"/>
              <a:t>Females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pattern was not isolated; it held true across most countries and age groups, pointing to a systemic difference in risk.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E87098-FDC6-B094-B846-8B5BF5DCD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8" b="13958"/>
          <a:stretch>
            <a:fillRect/>
          </a:stretch>
        </p:blipFill>
        <p:spPr>
          <a:xfrm>
            <a:off x="1126543" y="2946862"/>
            <a:ext cx="5342734" cy="2975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60A9211B-45AD-8974-201C-DAE699F51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593" y="2945237"/>
            <a:ext cx="4678521" cy="29759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0460D5-765F-DB67-7909-72F6D17C8A18}"/>
              </a:ext>
            </a:extLst>
          </p:cNvPr>
          <p:cNvSpPr txBox="1"/>
          <p:nvPr/>
        </p:nvSpPr>
        <p:spPr>
          <a:xfrm>
            <a:off x="1792521" y="5953016"/>
            <a:ext cx="40107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7:</a:t>
            </a:r>
            <a:r>
              <a:rPr lang="en-US" sz="1400" dirty="0"/>
              <a:t> Male vs Female Excess Deaths Distribution.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DCE2C-1DF4-E328-5D05-ED2E8EEFE410}"/>
              </a:ext>
            </a:extLst>
          </p:cNvPr>
          <p:cNvSpPr txBox="1"/>
          <p:nvPr/>
        </p:nvSpPr>
        <p:spPr>
          <a:xfrm>
            <a:off x="7704132" y="5918471"/>
            <a:ext cx="2827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8:</a:t>
            </a:r>
            <a:r>
              <a:rPr lang="en-US" sz="1400" dirty="0"/>
              <a:t> Total Excess Deaths by Sex.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8547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38D5A-B6F7-5D08-3FF2-A18B4C201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3F609E9D-C01C-8783-4FC4-C63D3A4B4BB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48E5874-CC6D-C700-A039-11B4B7B76F3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96BFDE7-8605-80BC-517B-27147FE3656D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BE8873A5-101E-2152-2FB5-EA30D980F2B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469C19A8-2F31-1BD1-65E6-9F7FE470E8A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8A437A7F-7020-6C5B-6008-1976086EE54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7A2279DB-80E1-50DB-1D97-65AEF47A3CF9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95681B78-C0A4-10DE-4649-49DDCF7E9A1F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1819444B-2CB8-8EA6-DF3E-5FDA484706D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35C37BDC-F377-029C-A6C4-FC4096B2F712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D60C50F6-05DC-2E7D-D064-7B85BDF71E20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B0BC5E39-6A88-435F-D51F-D17BB9F8794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90990968-69DF-AA0D-CB34-46AD43B417E9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9959D94C-43DF-A39C-3179-4208079B65FC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79D07A19-39C1-9EEB-AB20-F2A8CD6BB9FC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98424C20-7719-CC75-94F0-ADD4F875A731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BA19D431-0847-B5F0-AF77-38BB9C760A22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281A0483-4FD2-FAF2-CEA4-06D7E8C684AF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084F844A-CD2D-1CE0-AD1E-8E9B4C20B26C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8C96C8A6-21B2-42AD-C461-BEA554367488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3B9C8E9D-2B8F-5B23-802F-8E5EDF3559F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AA8B1EFA-4478-BA0C-1A9A-C6E3B618AE3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F6247F2A-D358-CCA4-A9FE-D4DEAA699911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2546CDED-2A19-FC29-1DBF-D4CECADB5DCB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08724F06-FC65-21E2-F134-C57B9754127A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2B6DE66D-488A-4096-40D9-3713AF23A3C7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16874B9D-C04F-3CCC-5149-AAEB33D5F97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628819FB-CB93-15EB-2DF7-7F8B2858CDB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2BBF15C0-0FBA-D0C0-0CD7-D89D1B4ABC84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08BB1A34-7945-3534-5614-84172A8AE18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8F3D88B4-F1F0-BF79-1B25-DF2DA96447C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8AD5ACFE-E9D5-AD56-4D24-4F19B2A90754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F95895C-B38B-A0A0-8CB8-519907E69F3A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99B6F3E2-5AC5-BA27-9433-A49202657EB7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2E9F00CC-D089-9BC2-5A12-E55A27BDEF67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AB5901F1-73DF-035A-AC1E-BA3E0EEFECA3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F233B7D0-23A8-D4EF-0DDB-0879F53B2790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DE981F15-C458-D031-7353-C407C4941044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A9E340A-A674-4B58-3B58-6D84C5141EF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7C3A7177-87EF-ED48-3147-49C297A77ED9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91E426AF-0CCB-85CC-416F-7E83DD74D05D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3FBF5839-27A7-CE7C-1A05-8140AF8C8CDD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4C79D919-6925-4D0D-44EB-47770055BCB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CF3D9C70-52CD-69CA-2EF2-71E3084AF3E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811CFC61-AC0E-37F9-DF4F-5645D4D43D24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37AB1F92-86CE-2762-C319-987382A8A5D9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44AEEF8F-EF67-5F7B-9F55-91E9917354D8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6BDEC69D-8835-F4E2-F8A7-F3B0CE2EEA93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3B38A75F-BFC9-44D6-40D4-DF63CE3078D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F670AB5E-5530-8F57-6A1A-A9416834186B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52898646-DFB1-7A73-0839-B3C33969DE11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6F4CB6FD-8DDA-87E1-76DF-2C5CFDD72AC0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94A9DEF7-7CC0-5D05-CFCB-7E9EE9395C0A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92074633-2672-F25D-3519-A0EBA4263BE4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2D8A240B-65D0-E0C1-D875-3332A8502A15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C22FC61D-FF70-AAD9-D413-155E51751022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6613676C-0238-243E-F0B7-3A98034762D7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A59FF074-A12B-052A-5C79-EF373EDDFCEF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3D7BEA7E-B603-0AD0-075E-7292FB3DE85C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F54B1710-82DE-BC2B-1944-145DB6BE8E57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9B450C80-D1B4-1A3B-654C-42571BEFA1CE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420BC98C-8B08-68D3-5C54-A890AA339A1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6351FBE3-849D-110F-48BA-B254D36174D4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9252B24F-A957-A2C1-A41B-4B5A29723A6D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C3C556EA-E7E4-DC34-49BA-DA9D14A10D73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9454C547-765E-1E5F-A3BB-1588DB4CE809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E54298B1-49C6-18BD-ABA7-C09465724FB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20AD307B-F1BE-C911-5633-5E40DF67F3B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231056ED-0120-D47D-2596-F5B5224AF9BD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3AA1836-2B08-8439-120F-C2B6DB23A701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BADAE01A-C5B6-F681-9184-D4BB0FF1CDA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295F9F85-0DA2-25B1-BD77-4D1D3F7867E8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DCBC483B-C263-8679-1018-F45FD1B7E6A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1C8400F9-37B0-EEE8-895E-627E3590DFE4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753A4D4-840B-D409-C6C9-DE119C1E6138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Machine Learning Implementation - Regression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DF1F7-D4DC-E2E8-DDC5-A96D470BDC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362EC-E383-E107-1EEE-5A824421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10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11F98-C8CD-2D19-0EBD-7AEC9EBCD422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>
                <a:cs typeface="Arial" panose="020B0604020202020204" pitchFamily="34" charset="0"/>
              </a:rPr>
              <a:t>ML Task 1: Regression (Predicting How Many Deaths)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586860-4DAA-F8B0-F6B7-F0237179715B}"/>
              </a:ext>
            </a:extLst>
          </p:cNvPr>
          <p:cNvSpPr txBox="1"/>
          <p:nvPr/>
        </p:nvSpPr>
        <p:spPr>
          <a:xfrm>
            <a:off x="680440" y="1235496"/>
            <a:ext cx="4711069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To accurately forecast the </a:t>
            </a:r>
            <a:r>
              <a:rPr lang="en-US" i="1" dirty="0"/>
              <a:t>exact number</a:t>
            </a:r>
            <a:r>
              <a:rPr lang="en-US" dirty="0"/>
              <a:t> of excess deaths for a given demographic (Country, Year, Sex, Age).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Models Tested:</a:t>
            </a:r>
            <a:r>
              <a:rPr lang="en-US" dirty="0"/>
              <a:t> We evaluated a range of models, including Linear Regression, Decision Tree, XGBoost, and Gradient Boosting.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The </a:t>
            </a:r>
            <a:r>
              <a:rPr lang="en-US" b="1" dirty="0"/>
              <a:t>Gradient Boosting Regressor</a:t>
            </a:r>
            <a:r>
              <a:rPr lang="en-US" dirty="0"/>
              <a:t> was the clear winner.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Performance:</a:t>
            </a:r>
            <a:r>
              <a:rPr lang="en-US" dirty="0"/>
              <a:t> It achieved an </a:t>
            </a:r>
            <a:r>
              <a:rPr lang="en-US" b="1" dirty="0"/>
              <a:t>R-squared of 87%</a:t>
            </a:r>
            <a:r>
              <a:rPr lang="en-US" dirty="0"/>
              <a:t>, meaning it could explain 87% of the variance in the data, and had the lowest overall error.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BA865E-6C58-099C-D191-283EE80D7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838104"/>
              </p:ext>
            </p:extLst>
          </p:nvPr>
        </p:nvGraphicFramePr>
        <p:xfrm>
          <a:off x="5538158" y="1502346"/>
          <a:ext cx="6402956" cy="3889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6739">
                  <a:extLst>
                    <a:ext uri="{9D8B030D-6E8A-4147-A177-3AD203B41FA5}">
                      <a16:colId xmlns:a16="http://schemas.microsoft.com/office/drawing/2014/main" val="1710723887"/>
                    </a:ext>
                  </a:extLst>
                </a:gridCol>
                <a:gridCol w="1677581">
                  <a:extLst>
                    <a:ext uri="{9D8B030D-6E8A-4147-A177-3AD203B41FA5}">
                      <a16:colId xmlns:a16="http://schemas.microsoft.com/office/drawing/2014/main" val="3549339217"/>
                    </a:ext>
                  </a:extLst>
                </a:gridCol>
                <a:gridCol w="1067159">
                  <a:extLst>
                    <a:ext uri="{9D8B030D-6E8A-4147-A177-3AD203B41FA5}">
                      <a16:colId xmlns:a16="http://schemas.microsoft.com/office/drawing/2014/main" val="766898212"/>
                    </a:ext>
                  </a:extLst>
                </a:gridCol>
                <a:gridCol w="1067159">
                  <a:extLst>
                    <a:ext uri="{9D8B030D-6E8A-4147-A177-3AD203B41FA5}">
                      <a16:colId xmlns:a16="http://schemas.microsoft.com/office/drawing/2014/main" val="2072202610"/>
                    </a:ext>
                  </a:extLst>
                </a:gridCol>
                <a:gridCol w="1067159">
                  <a:extLst>
                    <a:ext uri="{9D8B030D-6E8A-4147-A177-3AD203B41FA5}">
                      <a16:colId xmlns:a16="http://schemas.microsoft.com/office/drawing/2014/main" val="3107074208"/>
                    </a:ext>
                  </a:extLst>
                </a:gridCol>
                <a:gridCol w="1067159">
                  <a:extLst>
                    <a:ext uri="{9D8B030D-6E8A-4147-A177-3AD203B41FA5}">
                      <a16:colId xmlns:a16="http://schemas.microsoft.com/office/drawing/2014/main" val="1947224130"/>
                    </a:ext>
                  </a:extLst>
                </a:gridCol>
              </a:tblGrid>
              <a:tr h="5857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Sr No.</a:t>
                      </a:r>
                      <a:endParaRPr lang="en-IN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Model</a:t>
                      </a:r>
                      <a:endParaRPr lang="en-IN" sz="1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R-squared (R²)</a:t>
                      </a:r>
                      <a:endParaRPr lang="en-IN" sz="1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Mean Absolute Error (MAE)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Mean Squared Error (MSE)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Root Mean Squared Error (RMSE)</a:t>
                      </a:r>
                      <a:endParaRPr lang="en-US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138653"/>
                  </a:ext>
                </a:extLst>
              </a:tr>
              <a:tr h="37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0</a:t>
                      </a:r>
                      <a:endParaRPr lang="en-IN" sz="1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Gradient Boosting Regressor</a:t>
                      </a:r>
                      <a:endParaRPr lang="en-IN" sz="12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0.871831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1993.1554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6.20E+07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7875.273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674096"/>
                  </a:ext>
                </a:extLst>
              </a:tr>
              <a:tr h="234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</a:t>
                      </a:r>
                      <a:endParaRPr lang="en-IN" sz="1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XGBoost Regressor</a:t>
                      </a:r>
                      <a:endParaRPr lang="en-IN" sz="12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0.869614</a:t>
                      </a:r>
                      <a:endParaRPr lang="en-IN" sz="12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1533.6747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6.31E+07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7943.0986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969052"/>
                  </a:ext>
                </a:extLst>
              </a:tr>
              <a:tr h="351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Decision Tree Regressor</a:t>
                      </a:r>
                      <a:endParaRPr lang="en-IN" sz="12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0.859785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1407.9818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6.78E+07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8237.0433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978690"/>
                  </a:ext>
                </a:extLst>
              </a:tr>
              <a:tr h="351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Random Forest Regressor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0.8199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1426.4392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8.71E+07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9335.3524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289479"/>
                  </a:ext>
                </a:extLst>
              </a:tr>
              <a:tr h="351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Multiple Linear Regression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0.461381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3318.1011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2.61E+08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16144.158</a:t>
                      </a:r>
                      <a:endParaRPr lang="en-IN" sz="12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73012"/>
                  </a:ext>
                </a:extLst>
              </a:tr>
              <a:tr h="234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Lasso Regression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0.461193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3299.8713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2.61E+08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16146.962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707790"/>
                  </a:ext>
                </a:extLst>
              </a:tr>
              <a:tr h="234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Ridge Regression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0.45124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3314.1516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2.66E+08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16295.415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578126"/>
                  </a:ext>
                </a:extLst>
              </a:tr>
              <a:tr h="46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7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MLP Regressor (Neural Network)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0.349018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2187.9241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3.15E+08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17748.383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8898"/>
                  </a:ext>
                </a:extLst>
              </a:tr>
              <a:tr h="351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8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Simple Linear Regression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0.005451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4078.9761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4.81E+08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21937.52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672142"/>
                  </a:ext>
                </a:extLst>
              </a:tr>
              <a:tr h="351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9</a:t>
                      </a:r>
                      <a:endParaRPr lang="en-IN" sz="1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K-Neighbors Regressor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-0.002659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3841.2617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4.85E+08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22026.783</a:t>
                      </a:r>
                      <a:endParaRPr lang="en-IN" sz="12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91" marR="8791" marT="87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5249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60BB4B-A47B-D264-1A63-7544A8810DCF}"/>
              </a:ext>
            </a:extLst>
          </p:cNvPr>
          <p:cNvSpPr txBox="1"/>
          <p:nvPr/>
        </p:nvSpPr>
        <p:spPr>
          <a:xfrm>
            <a:off x="6515352" y="5425530"/>
            <a:ext cx="4542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Table 1:</a:t>
            </a:r>
            <a:r>
              <a:rPr lang="en-US" sz="1400" dirty="0"/>
              <a:t> Evaluation metrics of all regression models applied.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8670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5BDFF-C65C-70D2-3A98-43C5E59F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358262A5-932C-9C16-694F-F9D60632517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27C6D37-0588-ACF4-4372-02A102B505CD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87EE363-D1C8-0018-08CA-F150F802D59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9E8EABDE-DB59-34D4-A34E-6553D949F41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A1FDC9AD-3895-DA56-5168-6B9A48A2009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2B3CA3F2-690F-68DA-D360-BD5929CCA3E7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504A624B-AD9A-802D-7E21-7BA244052EED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ACCE6372-B701-BD9D-DA33-291B5AB4BBBB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D8E8E927-A02D-1ABA-42A3-5360CAD49F0D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DB162A44-A756-67FD-8F43-33B301D24DE8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4F9E4D39-40C1-9029-521F-6EC7A373481D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0E3D2830-8518-DBF5-3575-3D786D24DC72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0495ABF6-01A6-13FD-262D-F0E8732A5661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D07FA13-76C2-D0C9-C98E-C347E61C9FC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9FE7AE99-E460-7444-BF03-78E84D22CD97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6D5D73D6-5586-C5E1-FB6B-05F07E48C751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3C4C8A4E-F7C9-D411-FDAC-56659999CFD0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44DB56FB-0048-5AEB-40F8-634F67DCC97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C71E44A9-4242-133B-53B2-DEB1B5207C9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59C2922B-144D-B6A0-DBC3-F755FE39C06B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03268DF1-73EB-76CE-DB6F-712F222C420F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DFD3BDCB-99B4-3A89-F335-7487B9EC2819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A0502E4B-588D-7E1F-C6A5-6ABB8BBACD4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60495220-9F39-CE63-35BA-1A0BF1B0AF73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CBF7E5B3-C95A-13A1-FBD5-4CED994C9FF9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A5FD4AE5-6A32-F0D8-C1DA-149BB690A208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79225DF-04F6-93E7-051F-FD833EF9EF2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10C10E81-06AD-F066-6C83-CFBC2A7860B3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36DF599F-0878-254A-1E33-B5BE693EF104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DDF972A7-573B-4B0A-36AF-11787230905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0B7A0F12-D166-55F5-FF30-30EDB885263E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D08107B0-119B-5D85-8FD8-250E2E962C10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0080EE74-C1C0-E4DF-29CA-5E271844DD6B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9710B968-27CF-F989-9743-0D11CC5392E1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5D94DE67-62D2-49F2-6B28-369220BA7276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12800FC0-BC30-79D1-C685-A804A6CEE02E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C7CCFE16-A960-987B-E15D-A06E1E585CF2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5FC3EFBE-458E-E4FF-A407-2C6B76575AA4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773644F-8869-21AF-5A78-3C40DDD5F1AC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FE45798C-EA2D-079E-C615-5CC8052342A7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D3FF1D2A-17F5-EAC4-F4E2-3D7D7369710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548C4EC6-A741-F212-3D4D-3AFA1B66F170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92E94633-3075-9B44-50DE-FF1C716314DF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525D1880-7902-5B64-8CB1-276F5D111C49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27DF3F53-8826-A0FC-3DAE-C47EFB734F7D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ECC80D83-9FC1-47BC-1AF5-DCFEFE92877B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41F3ACD3-7B45-F2CD-1E5D-739887E43AC3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B87453E5-CF25-63F3-034F-16E44C4A054E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9E632BF5-0A5D-1B05-ED9D-AE8EBE66375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16CF7852-86A7-26DB-1CA9-69CFAAE87F7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EC89A67-726C-8093-B389-A9B985BD5C65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6F24DC42-5ADB-6CC5-D080-6713414642E9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2E86B1A0-C587-AD95-5DF6-4875C8C26FEA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F97EABA6-DC4C-18B0-56FC-55A46326F57F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8B5A3DCD-F2B8-A896-189F-FDB9D6A67C30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06C7E45C-2A54-829E-63E8-02D615351059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37FB301A-EB8F-E06C-BC67-DA17BFFFA5E3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51438588-3A12-F3C3-8D02-8B1DD3EE17D0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BBC35795-AF86-2FBD-09AD-2C4545A6FBEB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C4F95C1E-6AE1-25A3-FF69-6E542A9DD624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8F6FA0F6-E8DC-F4EF-558E-DF97AA6025E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7923DA70-A0DC-B532-F745-17B895345A04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16BDE81D-8F2F-0AB8-7664-5062E9867B19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6DFEAFD2-91C4-7E1F-30AB-0246AEF911E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F7898303-6D3F-CAB9-B43C-0AC9438AF938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BDE00ED8-594C-7F04-245E-542AF47CF285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511254C3-85F2-AA1D-6EAB-0C13DC60F77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F947568E-B7A8-1E7F-2D3A-185BF6F6D55B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482F5206-66E2-B021-8127-ADE851825B43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A5D97EFD-415C-60E2-7EA8-37F5216CB1EC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1C751E32-3E02-FF81-06D5-376A10668339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688DFC0E-C0BE-D310-43FA-A9402F6B25BD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5FADC4BC-A09F-A340-C5ED-39211D11F5E4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1B648CA0-30E4-50FA-CEB3-AA0964AB9191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A4C0B52-6688-0FC7-5A89-BBC547768CC5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Regression Model : Linear Regression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B2243-904C-A354-5D68-27992A8C58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059C8-CA5D-0C41-AE54-84437CCF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11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1CD02-7629-FEFE-66BD-3E556EE396A6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Regression Model 1: Linear Regression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1C180-6417-7EEC-6C21-688C1E3E1099}"/>
              </a:ext>
            </a:extLst>
          </p:cNvPr>
          <p:cNvSpPr txBox="1"/>
          <p:nvPr/>
        </p:nvSpPr>
        <p:spPr>
          <a:xfrm>
            <a:off x="680440" y="1235496"/>
            <a:ext cx="4711069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establish a simple, "baseline" performance.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r>
              <a:rPr lang="en-US" dirty="0"/>
              <a:t> Assumes a linear relationship between features (like age, sex) and the number of deaths.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The model was too simple for this complex data. It had a low R-squared and high error, proving that a more advanced model was necessary.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71B46-28BD-D15E-A50A-030721FAC0A1}"/>
              </a:ext>
            </a:extLst>
          </p:cNvPr>
          <p:cNvSpPr txBox="1"/>
          <p:nvPr/>
        </p:nvSpPr>
        <p:spPr>
          <a:xfrm>
            <a:off x="6458732" y="5829697"/>
            <a:ext cx="4361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9:</a:t>
            </a:r>
            <a:r>
              <a:rPr lang="en-US" sz="1400" dirty="0"/>
              <a:t> Evaluation metrics of Linear regression model .</a:t>
            </a:r>
            <a:endParaRPr lang="en-IN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17548B-348B-DF29-3F18-44D8CEB7E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47" y="2323639"/>
            <a:ext cx="4711070" cy="35060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ED0D0E-2657-47A4-0EE3-E2262307E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244" y="939986"/>
            <a:ext cx="5476875" cy="11906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2073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4468B-A82B-048D-0022-C8A9E4A4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729F85A4-4EE3-FBF6-2DF1-DEC34DCB9C2F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CE89A1D-2B94-B731-8008-74C638762056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E83DF87-EBBC-8505-A0CD-9F3BA9100802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1D3A344B-3D89-F843-94AB-329DAD2A6BA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0352AAD2-0FAF-49A6-898D-C85CD0F82D5F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A602926D-41D7-A79F-9D44-3C5F8DEADBA7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6DB3C595-019E-1EB8-2454-3A47B06561B8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89F65E9E-7EB2-67D1-1FAA-6EDA88FE872D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FCC0B011-879E-A215-A4B4-1A222DB96EBF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CF8CD659-DC27-343F-26F6-08B42FBAD705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555D831B-C0BC-F7C8-E867-D21C6C8FDDF6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46B24AD0-0A0E-CB25-B7A5-8E6C7254F9F3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0603B398-F203-9B22-E0EF-BB74D7258EF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358E3B1C-E2C8-6ED2-224C-8F57A8A0631E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F661E5DE-C318-A152-DEEE-BDB76EE1F676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C01F0C39-FAC3-9FDD-0384-8307A1C8E5EC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F5DE6E84-4B01-1719-68EB-CF2A7CD4ABAF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62974CA2-9727-E3F8-4050-3DA7FFED825B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C87599DC-7785-4E84-01B0-C0B8A17C8590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442F9039-D36F-235A-CAE7-736CE0AA8B49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35F1F4B3-3C2E-E7CA-E2F5-914FFAECD53D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942A6299-2007-7A57-2AD9-13A0E32C644E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D8F2E294-CEBB-7038-CE0A-42309DD5F97B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49D5F85C-6626-AAF8-D6DF-BEF57B7CAD5A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8E2B4BD4-CA39-3C6E-988F-2AD842627766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CFC56C3A-9253-4C91-E259-D2D5DF48A9AF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406D258D-A527-FDA6-1475-85945F29C5CF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6A36AFE9-968D-C528-FB8B-9C3307D55548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86F8CCD7-9811-758D-7A5C-DA29A1122802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F5199533-C007-77E5-552F-90CBACBA1DB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1561F4C0-F31E-E34D-3FCE-4BA1677975D8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E3AA329A-6712-08EF-E07A-D332D037AC31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D8BF73EC-167B-9E3B-B935-A6B83AD58B04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ABDACE0B-A129-5C71-1697-6E6E8A0A079E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A315052F-4822-F7FB-CAD7-9ECC47006129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BB57DD7B-D66D-928E-BE19-EBAB3196A3E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75AF6204-D272-0226-05A5-0DE6508AD67B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DB79CF30-B42A-BF5D-6C5B-971090E590C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B408A81-76B8-3BD5-A623-1D0B2547E809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725FE901-594D-B48D-9482-0DDD505C7B61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B86B1E26-63EA-E816-B2A1-DA2848856F0B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2FD469B0-FF1F-1CB1-DE84-A67E96B1C880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A68706A9-6C67-56F6-8957-BBFE12D13686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8D4C357D-755C-9463-8DE5-A3EBB055E883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43632B78-7319-37B6-1CC7-BD4587D7DB0A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624F8091-7825-6E15-C20D-943C53967B95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DA395AF-0F28-32EC-8255-3D0BE707F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4DEA8573-8E1F-97D2-974E-E0AA56B30334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CD710B81-00F5-0894-ECAD-7C6205B3E0DA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6E3103C8-B7C4-1B86-7301-81E9E8D9E9CC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DD54781-0495-A992-9F57-81AC81209177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A88DFBDD-64F5-3D8A-A477-5A56A5C83B13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C532E19F-8FC9-97AD-EB42-D4022C1A3D36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F43EA50E-CAC4-944E-9CD2-9D379EC5F551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403FAF2D-4FF1-7A7C-763B-686D037B8AA1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5F865A62-5178-0CA0-B945-A4989B20C651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DCB17805-3F16-F510-BFB4-4F120681D2BE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95A8626B-FC69-B5E4-B178-7164C343B1C0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98EBEE52-4E6F-F8ED-B95A-4CF236C1F897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3C8C6311-4448-C905-5E53-035BBBD09A32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92EF2B2F-5AB7-5E11-0331-E7A61D189F6D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C6B8BE07-6AC4-FBC0-75FC-4FDF245CD81E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1059E1EB-3273-48FA-DC74-7030CEF2C88C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E286396E-6E44-FE04-D3F0-DCEF4211F5B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16BCB369-381A-B69C-32C9-2660A48C2FDA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9F97A239-77CB-6E60-ABE7-987B7EB9D766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522D4C0E-9C1B-6D65-0152-229E8BFC914E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315DAB0F-6B68-8FD8-7CB5-8C4DBCA6A951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16E1CF2E-B835-DAB1-AD2B-6C329BBBE6B8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448E136B-7D44-5976-6EE0-0E7EAFDD8B7F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C238EE3D-4AAE-FBBC-D02D-E8FB2816D399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2AFDD8F7-E1E6-E9C4-89D4-C41ADA5E791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C81E29B0-53F5-9E3A-18E5-BE94251DFD8B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C847D7A8-D14A-190F-1E94-DD02B7F94BF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E142BAE-72E1-C21E-F52E-9857D84F118B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Regression Model : Decision Tree Regressor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843CF-147D-FAA9-F049-441298C82B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A8059-E0D0-1B09-86AA-7FF10EC6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12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9EBA5-5F40-39B0-3939-4E8646D544C8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Regression Model 2: Decision Tree Regressor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D2692-2D61-4AFD-A077-29C768631A0E}"/>
              </a:ext>
            </a:extLst>
          </p:cNvPr>
          <p:cNvSpPr txBox="1"/>
          <p:nvPr/>
        </p:nvSpPr>
        <p:spPr>
          <a:xfrm>
            <a:off x="680440" y="1235496"/>
            <a:ext cx="4711069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capture non-linear relationships that the linear model missed.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r>
              <a:rPr lang="en-US" dirty="0"/>
              <a:t> Creates a "flowchart" of if/then rules based on the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A significant improvement over Linear Regression, with an R-squared of </a:t>
            </a:r>
            <a:r>
              <a:rPr lang="en-US" b="1" dirty="0"/>
              <a:t>~86%</a:t>
            </a:r>
            <a:r>
              <a:rPr lang="en-US" dirty="0"/>
              <a:t>. This confirmed that the data's patterns were non-linear. However, single decision trees can be prone to overfitting.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66656-AF4A-9E9C-52AA-1E1F021B7B5F}"/>
              </a:ext>
            </a:extLst>
          </p:cNvPr>
          <p:cNvSpPr txBox="1"/>
          <p:nvPr/>
        </p:nvSpPr>
        <p:spPr>
          <a:xfrm>
            <a:off x="6515352" y="5979300"/>
            <a:ext cx="4978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10:</a:t>
            </a:r>
            <a:r>
              <a:rPr lang="en-US" sz="1400" dirty="0"/>
              <a:t> Evaluation metrics of Decision Tree regression model.</a:t>
            </a:r>
            <a:endParaRPr lang="en-IN" sz="14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8E85811-8D70-1B1F-E200-126B91A91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493" y="1859107"/>
            <a:ext cx="4245036" cy="407223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C67B79-E322-2E46-F0B4-ECD0B85EE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494" y="789188"/>
            <a:ext cx="4245036" cy="9389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7645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10E65-DAA0-FE01-0C31-7153C4F6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75EFFBA7-131B-B6A5-74A5-87A2FFB3BDA5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5E54F79-BCEA-CC7C-054A-69912AA91D03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01C665A-9472-12DC-46EE-B7B8DD367646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88D67747-AE16-EB13-4692-955A01F6E4C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D02E2384-5573-8B7F-61D0-A89DE52097D4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54C5FE36-F6AD-6F13-D763-1C3E2817ED6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FCF809-520A-5BB1-4D17-316265F5EAB2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49F3A734-ADDF-0CD1-514D-9E8D286DEC19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0B1CD0E3-67D5-7130-12C7-E7AEA6CF10DB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EBCCB907-8DD1-673A-2214-01A12DEBB669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74A11AE4-EF34-7D31-F025-D61A08FB45DF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DD314A4A-C246-1C10-7699-26C52B770F42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8BF2FE80-6802-4DB1-AB38-4B3B5C26B416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F8A2B99D-42BA-A2E0-F8DD-4296763300AB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54FE9906-9691-8AB7-8240-6B0992360D06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FF876F3E-FA3C-C635-9EA5-F45430C48847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A111BDB7-0608-42E2-68FA-4CC71735E02F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807457D3-C0E3-9C05-A2EE-5D949429E396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BD357324-506C-09B9-A817-5E609226743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06D9ECE5-4C6C-D4F2-CEDE-2EFFAF4B9EFA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333882CB-0251-1910-8FE9-45E27DD9222E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10E61B71-D34C-AB1E-5967-EAEF2A217D48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0CFC2298-510C-27E2-B4BB-0E0CA1C6BB84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BEF52BD1-9503-B770-936B-088BC60EB831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E453DB0D-7B1B-6273-0E4E-33DF6AD8915B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5EDF9EF7-E3DD-556C-B082-3020B17F856E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6A413255-26F9-DDC6-6E9D-0990ABB38606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B7191ED8-CAB3-41C3-34B9-85B9003AA822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1F40DEE9-41CB-8702-6396-FCFFC5127447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37CD7D6B-8297-70B9-B8BA-7BFCC75AFFD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B191B4B9-E08B-C017-E54E-FDB1771EC50E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27F38D47-CB94-E287-EEFA-11540CD30D9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4035DEC2-1261-4FC0-AABB-3BEC70583B85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303A3B8F-950E-79DC-46F1-FB952B8D953D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1CA39DEE-5CAF-385F-CD35-CE665A1D003C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E3ADBD31-C31D-43DA-B6E1-1BE5D21C396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DA32BF11-72A6-F71F-F592-1363184254C3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FF4E301F-54CD-3F97-E2EC-27206B701549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CEF045A-0CE1-E7F2-9E2F-4066096F113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F50A37D3-28AE-1EFF-17BF-E7167EBAA423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14C6B638-4AB2-32DC-C7E6-BAF1FC399835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2E92EF87-79F6-E972-F129-7408B2E19D13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3811FEF4-5EB1-EC8B-4D4C-70F3841B3086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902F23C0-83C0-6836-EDFC-9990B43635EE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3F5EC415-8093-3107-9938-9A98DF5407FB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B84CBCDA-562B-C5D4-024D-064FED8163B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44BD5059-3148-7F1B-EB11-9A0FE74288C6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8565D4E0-6E22-1B96-7CDC-E927ADE26DA1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8CBCD293-DD3D-9C7C-F3D5-A9250C87B471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97CD196E-9D19-15B1-218E-B38698A4010A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DCFFB849-15E5-6F3E-7D53-B06AF4E00D1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A3FDE760-DBAB-FA37-8C42-F79CF9138D3D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2CAD60BF-C510-6C2A-4C03-EF06FF8AB3C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6CCE7B96-B6FA-1C34-76A5-1F83F36A53E5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570D1F2B-888B-5439-45B6-3875F71C05ED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8BBF678F-7418-5D2E-0187-A96190158CDB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2F9A6E12-EAB6-E074-A13F-5318D4030271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89E38EF5-8874-E1B4-0248-E6AAA5FDC1CD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961645C2-A1AB-6595-CEC2-2EEF1AD221EF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9DEFE6E4-724C-35C2-27AB-DAA63D09EF4E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6C7250A4-4517-E9A5-6B7F-9CED9189D4A0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17DABE7-DC45-1F42-689D-B1AD783AE092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44E9B184-AE37-C6DE-DEAF-4D72132F6BBE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0E2BDAC2-7F5F-C7D8-5848-2C41DFF731D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77009172-EC28-7F61-2A0D-37F0148EA2C7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41ADD899-C696-C35F-B185-9AD70AFA383B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CB49AA89-0A08-196E-6A56-8B5FFC40D6BA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297ABD24-B73D-A2EB-8D9E-FC70370AF37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449E0DD2-7A96-59DC-37CF-128A205791DD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993466F4-23A0-8F7D-D15D-F7FF7E5ED071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DBE22DBF-718D-61DF-97D2-05EDD1539374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3AE0C1D3-F02D-DAAC-0080-967460437149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A8DDF31E-0FC7-BE06-8A42-A6B681B67873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12443978-543F-E772-39DF-1928FCCB9742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8B866B8-7669-6A10-0C11-36EDFF608A31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Regression Model : XGBoost Regressor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1AEF2-7905-0A18-A0EC-7F08E1BDD5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65623-7821-481F-E4AB-97E39DF8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13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EA1DD-95A0-3703-02CF-1913CAB0613E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Regression Model 3: XGBoost Regressor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25F00-E541-C609-64C9-46D28C3427A3}"/>
              </a:ext>
            </a:extLst>
          </p:cNvPr>
          <p:cNvSpPr txBox="1"/>
          <p:nvPr/>
        </p:nvSpPr>
        <p:spPr>
          <a:xfrm>
            <a:off x="680440" y="1235496"/>
            <a:ext cx="4711069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use a powerful, industry-standard "ensemble" model.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r>
              <a:rPr lang="en-US" dirty="0"/>
              <a:t> An advanced form of Gradient Boosting, known for its high performance and speed. It builds many trees sequentially, with each new tree correcting the errors of the previous one.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Excellent performance, achieving an R-squared of </a:t>
            </a:r>
            <a:r>
              <a:rPr lang="en-US" b="1" dirty="0"/>
              <a:t>~87%</a:t>
            </a:r>
            <a:r>
              <a:rPr lang="en-US" dirty="0"/>
              <a:t> and a low Mean Absolute Error. This was a top contender.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D29D25-6BF4-3D79-6417-ABF775A6369B}"/>
              </a:ext>
            </a:extLst>
          </p:cNvPr>
          <p:cNvSpPr txBox="1"/>
          <p:nvPr/>
        </p:nvSpPr>
        <p:spPr>
          <a:xfrm>
            <a:off x="6585965" y="5890186"/>
            <a:ext cx="4569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11:</a:t>
            </a:r>
            <a:r>
              <a:rPr lang="en-US" sz="1400" dirty="0"/>
              <a:t> Evaluation metrics of XGBoost Regression model.</a:t>
            </a:r>
            <a:endParaRPr lang="en-IN" sz="14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0AF19D7-C279-CB9A-508F-9517CF8C5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581" y="1925053"/>
            <a:ext cx="4499226" cy="390464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A4603E-DF35-4526-FAF1-EB8BAF8AF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581" y="866136"/>
            <a:ext cx="4499226" cy="9255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6335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2A4A-6D7D-137A-6C53-B4A86BF1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5D80D73F-BBE3-E92A-AA50-A7018ED2A84D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1DE3C8B-6B29-421C-A1AD-95AA8AED3961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304C022-AF6D-0151-ED2A-DDB39874DA42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01EFC181-1594-0B04-7613-D810242CA3EB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B24EF88A-B338-D2FC-BF95-6AE42B1D6E10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21A8F880-6D50-AD2C-BD7D-6091121E4CA5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0458BDCC-48BE-CB81-5382-8373326E4253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20B85376-5750-ADD8-813D-986BC32F79E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BEAE9646-E836-0FA6-0DF1-DDF511AB7D6D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CEB8DBC2-ACA1-1D1E-D5F6-6F64AFBCF26F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D48A2C0C-7D6F-029E-53DA-91BC7E18FF7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CCD1757A-9C33-F473-00D1-88C51D960788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B0CACBCE-1279-24D2-D019-A40BEA04B3DF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AE43CCAF-7120-9179-D989-52DD3A79135F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44A9BAB5-C21A-5173-71EA-92181A98C7A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8FC13663-4290-08A9-2794-E1EB133BD7BE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F34E4A02-1CE5-166D-9CD8-D8548A537A50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8747817A-64EB-F13C-295C-4259CFB4D8FB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CBD99AF5-600A-8A65-16C3-0DA9B66B69F2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528B0976-CF18-F010-CA03-2E09D397D75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822AC341-43BA-1201-B770-6884ED95EB9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6E5DC71-ABA6-E423-EC47-59B466C902FD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A72CCF49-F9A7-4537-9D80-9E2115338656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1457D72E-420F-0957-88CE-6C00AEF68A08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B57A3AC6-D8D7-69B9-0A37-6B6A7B58A769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97C2057A-7CEB-3204-A8CC-D93BCD49BCE3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00892165-665C-765B-37CE-B29CE2A0F111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C563E31F-22A2-E676-2020-932C0A2A2482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7C502A47-9A04-22DE-2492-DCFDF1FFC583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BEB26532-6FC4-8D1F-1DBC-BD5FB4EAEBA6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040A077F-49FB-B727-7585-F2301C19A69A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8D35569F-50FF-C9AD-1AA6-F697ED4F6BD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CA3258FF-1792-B3D2-D750-2AC59D1DB0E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49EA59AF-E0B0-D59F-14A8-8ED2A40CA406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2E59736A-7852-AEB6-3B9A-C4FD37AEC64E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927E451-C2B9-CB32-BF33-B347A49BE38F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CA9B0703-4F5A-B953-B7C7-DA1D72C58B74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344CFCB7-18DF-9B19-3DFE-9C3B8139A87B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2B785BE-0F38-078D-0900-56B16CBCBED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15EBC2F2-8A86-0ACF-F959-965660C14209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2DFABD9B-B9EC-FC8B-D075-BABFB910CF64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886B3880-2F5B-B42F-48F9-334EC3DC5594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C113D968-7786-F15E-25E2-F95DC877572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3115B4A9-AB61-17BB-961C-F19888F6A685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EB2B153A-F32A-BC7B-1893-6D2F4866FD42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7056FF5F-444F-3735-3CFA-1A77EC771DEB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C477997D-11AF-8A64-AF0C-2751630728CC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104FCE69-B6B8-A571-9C5D-06EAF850D960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D59F2AF0-A0D8-429F-E23E-F3EF7853700B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5F7E05D6-CA6D-E78F-777C-68A8353B9A65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856CE1FD-8F1E-7E4B-944F-0D16E0FC71FD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E4263B38-D37D-F7E9-9AB4-ADD4D89E16C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2289718B-FDF8-F553-2294-94CA317E6AA6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4B702984-1FA9-4BC5-9262-828EA3991B33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D63C5438-BD27-2607-6683-E9CAA8465555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85AEA06A-5D7D-7D80-5A3D-589FE9D45AE5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F11EA394-A224-D18C-13DB-4D169EF0CAEF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FE45FC70-06DD-BD8F-F418-680C3D5ACB9C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2C6B0533-CFE7-E63E-DBE8-7FB649B36C14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4A153B78-FAD6-38AB-68BE-0C8C49B71FA7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1DBC3B02-3629-11AE-9F74-D1FAAC562955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57240498-EFF1-2828-2373-EF809333AFA1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02C7BB08-2614-3219-D78C-4224B95864BE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02B96937-F9E5-4667-BEEC-89D4D2D4446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21CA0CD3-907A-5A12-FAD3-F16F190C05B7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6431F08D-74C4-5631-4BB0-46F596E73848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0FAC7CFC-D50F-0548-42C7-5A8EDA8A20B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30D5773B-870F-6CA0-AC46-6BBD329AA4C0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55CEB384-3524-E527-645D-DC41C947B0FB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06FCBCF0-330F-4D81-6933-5831866CD96A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E935D759-D2F4-B57B-1FF8-67606619BF19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8A438212-E0C1-EC70-38B1-A5C219AEABE7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B0881069-E8A1-5E2F-D36A-4832AA9BD499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63EAEDB0-0E58-3595-E824-D0B4CE248B2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B4CF0FA-0052-82A2-514E-B2052B3F7C62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Regression Model : </a:t>
            </a:r>
            <a:r>
              <a:rPr lang="en-IN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Gradient Boosting Regressor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9CEC31-E4B5-3BA8-9276-C62CE04595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08E0D-EE1D-0D58-B68B-E7A31E51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14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9B9DE-F4F9-7615-D844-465A080A5F67}"/>
              </a:ext>
            </a:extLst>
          </p:cNvPr>
          <p:cNvSpPr txBox="1"/>
          <p:nvPr/>
        </p:nvSpPr>
        <p:spPr>
          <a:xfrm>
            <a:off x="364718" y="889323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Regression Model 4: Gradient Boosting Regressor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F47DB-9C27-68A4-3E02-5B86F9905977}"/>
              </a:ext>
            </a:extLst>
          </p:cNvPr>
          <p:cNvSpPr txBox="1"/>
          <p:nvPr/>
        </p:nvSpPr>
        <p:spPr>
          <a:xfrm>
            <a:off x="680440" y="1235496"/>
            <a:ext cx="4711069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compare against another top-tier ensemble method.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r>
              <a:rPr lang="en-US" dirty="0"/>
              <a:t> Similar to XGBoost, it builds trees sequentially to correct errors. We used Scikit-learn implementation.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This model </a:t>
            </a:r>
            <a:r>
              <a:rPr lang="en-US" i="1" dirty="0"/>
              <a:t>also</a:t>
            </a:r>
            <a:r>
              <a:rPr lang="en-US" dirty="0"/>
              <a:t> achieved an R-squared of </a:t>
            </a:r>
            <a:r>
              <a:rPr lang="en-US" b="1" dirty="0"/>
              <a:t>~87%</a:t>
            </a:r>
            <a:r>
              <a:rPr lang="en-US" dirty="0"/>
              <a:t> and had the lowest overall Root Mean Squared Error (RMSE). It was slightly more robust in our tests than the XGBoost model.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D1B2C-8F3A-818F-578A-BE92300DA816}"/>
              </a:ext>
            </a:extLst>
          </p:cNvPr>
          <p:cNvSpPr txBox="1"/>
          <p:nvPr/>
        </p:nvSpPr>
        <p:spPr>
          <a:xfrm>
            <a:off x="6238422" y="3790735"/>
            <a:ext cx="5287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12:</a:t>
            </a:r>
            <a:r>
              <a:rPr lang="en-US" sz="1400" dirty="0"/>
              <a:t> Evaluation metrics of Gradient Boosting regression model.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2F1E40-F844-EBA7-E58A-DCF833AE7BC3}"/>
              </a:ext>
            </a:extLst>
          </p:cNvPr>
          <p:cNvSpPr txBox="1"/>
          <p:nvPr/>
        </p:nvSpPr>
        <p:spPr>
          <a:xfrm>
            <a:off x="922089" y="5411585"/>
            <a:ext cx="6152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/>
              <a:t>These are some of our regression models applied.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F03A32-5C5F-D9F7-837D-40191717D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22" y="2778979"/>
            <a:ext cx="5287538" cy="9778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048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E759C-858F-7F1B-C325-3B560C95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2582C6D8-D804-FFBE-A0FF-E174BB9FC92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45D36B6-DC72-75E6-15E6-ED0210EA8829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1A192D3-DB5E-2A42-6142-F839F54D751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685E304C-0896-8C0D-0874-854E9B09DF35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7D2345CF-C149-5BCA-5728-FF4FAC293B9E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220E0343-8F40-869E-8906-7A81510D06E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A9DC0020-E04D-F558-AB91-544830150032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D84720D7-E44F-A5F1-833E-944CD2ADDED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20AEAE17-384A-D353-50B2-0C732DECB72A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4AB245C1-945F-6B40-ECD2-620D34A77394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359D1C61-DE0C-7EF0-A2EE-88778B974393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D680A8B4-033A-B822-DC1B-0F55922D4BFF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C77C6A7C-216D-B833-7366-EC414530E59A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6788D71E-B08D-CC0A-93B0-B47B2D835B6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2BAC341E-D8D7-3D0C-3B82-6269A278232D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1AE358C1-175D-1130-D3A0-AB9DE1EF5AC8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F70C348C-C85D-7AFA-EF3F-221B355398F9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58068AE5-1EF7-BB7B-4E85-AA44BE631B3E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3C6A58F7-4735-3F78-C4E7-C930D97374FF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3256F6DD-D568-AE04-898F-F1FFEAE337D2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9C225520-EFDB-7F6F-CFDC-153A95D3E918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A62588E8-54DC-9035-CB1E-99DC157480EC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4E73B7A3-2038-50EF-5C27-0296127B1A5B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E2AF4FA7-D94A-165C-D389-FF4DB85D1919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2DC9BEF4-462B-36E1-D2E7-1B6E23BF69CE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6455065C-26B2-7B60-F0A6-DA892193EE4F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5F35A76D-9D92-D280-0F05-7DB279826B4A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116DD35F-6201-854C-974C-4ED25544FD5C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BF90BE17-6A53-22A3-9BC8-2D11DDD50098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CAEF2F79-43AA-50E6-1408-E0F023AD627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57EA6E4D-2854-75D0-2C88-87A6D062B0B5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8F085C1F-52CC-8898-3474-2AC10EC4A4C1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4CD1155-FF38-6572-8822-3E55246C14D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4C5D8CFE-41AC-1BFE-30A4-7D23381C4C5D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EF5E3AC8-5182-E090-8307-9CB4C8131BEE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1C92F46F-AE65-448E-11A1-080E95DB28D4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9CAF44BD-6E9A-7667-68B8-AAA70F35FE9F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CE09E46F-CDA2-3FC6-8D48-E497DC20ACD4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DFAFCB7-1F08-5C49-6E94-7B376118EF3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F65F70A6-B699-CE74-01EE-EFDCEFBA8658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99A0AB3D-07BB-FF08-092B-751DE629A13A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43A5D542-FDE8-8F77-48F0-0F787F941786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FCA75CCD-A8AD-E09F-7202-3CBE13F6F1DC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723994D5-BF0D-2407-FC73-5223F6DA6F3E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3066D82D-543D-81CA-AD65-70CE639DA877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780AFA9C-84FE-C55B-C3EA-C0D215DCCEFF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18E0246A-012B-046D-86AF-34EE83B302E7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E2C9C8A2-39B1-1648-6A7F-3B32C33AC6AE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27A607C3-3E0D-2B77-DDE4-35028754EF27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F0CD0EB7-E8CB-85EC-6EF4-A6DBFDC5D2BB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C7ECAD9D-87E8-3900-0E1E-7AEA5A7D16F8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B02E1796-0568-0E41-7871-089A4290C5CC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30B61F7E-744F-C6B3-8727-5410394BA01F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43B76C49-4F5A-E01B-F505-C36E68E0BF35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FEFD1877-F965-660C-50AB-9D8BF05EC655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B9F81067-A70C-DEDF-44BB-0471C458EE41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D5072BC3-5B17-3898-3DAC-07F0EAA98686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AA03659F-549F-96B0-6394-076D6D461E9F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52FD162C-3C03-E124-8175-16D3A23E38B4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947ACFBD-FCCF-73A4-E823-511445A1B85F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661C253A-35DC-956C-7C42-D58355592E5F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5CC54D1C-7436-0FDD-6C0D-AD50839F25B9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081569BE-4CC7-811F-5669-9AE674B32B4E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BED35611-B57F-43B4-FCE0-FDE466E3E01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6345CC44-5E40-71D2-5537-FF5E14970C91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19D5B76F-0348-0623-6F27-EF8BAC5FD3B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38D1FAAA-D79E-721D-9226-1272FC53C8DE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1BCEBC68-50C0-5F76-8F0F-547E0BEE15B2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F5AA22B0-6F15-4130-D406-E2A9ACE1C405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93E3615E-B8B8-75C4-989F-9CA53FBF53A2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38284032-DC82-AFD5-7D62-F2C09B4E57B9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4B1C6975-76BD-B5A0-135D-398227E6344F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095A9863-A45D-BA82-2F9B-4C951E0F7E25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ADD4C917-5C1C-BDD8-A781-E49395B314D8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72E660B-180B-738F-7636-E9CAAA28C28B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Machine Learning Implementation - Classification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EDD90-E195-F142-DC93-2F77E89E90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6E02A-DD0C-6203-AB60-E7E8F5B3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15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A6892-4475-821B-FEC9-4A441BCEC8B1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cs typeface="Arial" panose="020B0604020202020204" pitchFamily="34" charset="0"/>
              </a:rPr>
              <a:t>ML Task 2: Classification (</a:t>
            </a:r>
            <a:r>
              <a:rPr lang="en-US" b="1" dirty="0"/>
              <a:t>What is the Risk Level?</a:t>
            </a:r>
            <a:r>
              <a:rPr lang="en-US" b="1" dirty="0">
                <a:cs typeface="Arial" panose="020B0604020202020204" pitchFamily="34" charset="0"/>
              </a:rPr>
              <a:t>)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C1408-A77A-9F49-81E2-8882D62F4FEF}"/>
              </a:ext>
            </a:extLst>
          </p:cNvPr>
          <p:cNvSpPr txBox="1"/>
          <p:nvPr/>
        </p:nvSpPr>
        <p:spPr>
          <a:xfrm>
            <a:off x="680440" y="1235496"/>
            <a:ext cx="4711069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To classify a demographic's risk as 'Low', 'Medium', or 'High' (using our engineered feature).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Models Tested:</a:t>
            </a:r>
            <a:r>
              <a:rPr lang="en-US" dirty="0"/>
              <a:t> We tested Logistic Regression, K-Neighbors, Support Vector Classifier (SVC), and an MLP Classifier (Neural Network).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The </a:t>
            </a:r>
            <a:r>
              <a:rPr lang="en-US" b="1" dirty="0"/>
              <a:t>MLP Classifier</a:t>
            </a:r>
            <a:r>
              <a:rPr lang="en-US" dirty="0"/>
              <a:t> provided the best performance.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Performance:</a:t>
            </a:r>
            <a:r>
              <a:rPr lang="en-US" dirty="0"/>
              <a:t> It achieved a </a:t>
            </a:r>
            <a:r>
              <a:rPr lang="en-US" b="1" dirty="0"/>
              <a:t>91% Accuracy</a:t>
            </a:r>
            <a:r>
              <a:rPr lang="en-US" dirty="0"/>
              <a:t> in correctly classifying the risk level for a given demographic.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282A5-AFD7-680A-220A-94EB2C854FDA}"/>
              </a:ext>
            </a:extLst>
          </p:cNvPr>
          <p:cNvSpPr txBox="1"/>
          <p:nvPr/>
        </p:nvSpPr>
        <p:spPr>
          <a:xfrm>
            <a:off x="6403509" y="4023062"/>
            <a:ext cx="47189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Table 2:</a:t>
            </a:r>
            <a:r>
              <a:rPr lang="en-US" sz="1400" dirty="0"/>
              <a:t> Evaluation metrics of all classification models applied.</a:t>
            </a:r>
            <a:endParaRPr lang="en-IN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DA68FE-334D-E660-E816-010D4A73F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612770"/>
              </p:ext>
            </p:extLst>
          </p:nvPr>
        </p:nvGraphicFramePr>
        <p:xfrm>
          <a:off x="5529532" y="1656272"/>
          <a:ext cx="6466938" cy="2366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3506">
                  <a:extLst>
                    <a:ext uri="{9D8B030D-6E8A-4147-A177-3AD203B41FA5}">
                      <a16:colId xmlns:a16="http://schemas.microsoft.com/office/drawing/2014/main" val="2943820804"/>
                    </a:ext>
                  </a:extLst>
                </a:gridCol>
                <a:gridCol w="1572140">
                  <a:extLst>
                    <a:ext uri="{9D8B030D-6E8A-4147-A177-3AD203B41FA5}">
                      <a16:colId xmlns:a16="http://schemas.microsoft.com/office/drawing/2014/main" val="122984104"/>
                    </a:ext>
                  </a:extLst>
                </a:gridCol>
                <a:gridCol w="1077823">
                  <a:extLst>
                    <a:ext uri="{9D8B030D-6E8A-4147-A177-3AD203B41FA5}">
                      <a16:colId xmlns:a16="http://schemas.microsoft.com/office/drawing/2014/main" val="1195087075"/>
                    </a:ext>
                  </a:extLst>
                </a:gridCol>
                <a:gridCol w="1077823">
                  <a:extLst>
                    <a:ext uri="{9D8B030D-6E8A-4147-A177-3AD203B41FA5}">
                      <a16:colId xmlns:a16="http://schemas.microsoft.com/office/drawing/2014/main" val="967207165"/>
                    </a:ext>
                  </a:extLst>
                </a:gridCol>
                <a:gridCol w="1077823">
                  <a:extLst>
                    <a:ext uri="{9D8B030D-6E8A-4147-A177-3AD203B41FA5}">
                      <a16:colId xmlns:a16="http://schemas.microsoft.com/office/drawing/2014/main" val="3318056474"/>
                    </a:ext>
                  </a:extLst>
                </a:gridCol>
                <a:gridCol w="1077823">
                  <a:extLst>
                    <a:ext uri="{9D8B030D-6E8A-4147-A177-3AD203B41FA5}">
                      <a16:colId xmlns:a16="http://schemas.microsoft.com/office/drawing/2014/main" val="2256954127"/>
                    </a:ext>
                  </a:extLst>
                </a:gridCol>
              </a:tblGrid>
              <a:tr h="3721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no.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Model</a:t>
                      </a:r>
                      <a:endParaRPr lang="en-IN" sz="1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Accuracy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Precision (Weighted)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Recall (Weighted)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F1-score (Weighted)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965115"/>
                  </a:ext>
                </a:extLst>
              </a:tr>
              <a:tr h="5029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MLP Classifier (Neural Network)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0.909823</a:t>
                      </a:r>
                      <a:endParaRPr lang="en-IN" sz="12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0.909289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0.909823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0.909335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16103"/>
                  </a:ext>
                </a:extLst>
              </a:tr>
              <a:tr h="4961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Support Vector Classifier (SVC)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0.877617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0.877677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0.877617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0.877214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352334"/>
                  </a:ext>
                </a:extLst>
              </a:tr>
              <a:tr h="2480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Logistic Regression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0.876812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0.876086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0.876812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0.876234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553116"/>
                  </a:ext>
                </a:extLst>
              </a:tr>
              <a:tr h="372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</a:t>
                      </a:r>
                      <a:endParaRPr lang="en-IN" sz="12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Random Forest Classifier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0.747987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0.756164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0.747987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0.749279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80664"/>
                  </a:ext>
                </a:extLst>
              </a:tr>
              <a:tr h="372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4</a:t>
                      </a:r>
                      <a:endParaRPr lang="en-IN" sz="1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K-Neighbors Classifier</a:t>
                      </a:r>
                      <a:endParaRPr lang="en-IN" sz="12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0.63124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0.64154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0.63124</a:t>
                      </a:r>
                      <a:endParaRPr lang="en-IN" sz="12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0.633098</a:t>
                      </a:r>
                      <a:endParaRPr lang="en-IN" sz="12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84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055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C4B1B-5004-F6A6-2445-53D5E327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7F018770-86B3-F40D-825A-0BD34D6947C8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AAC7F-AE3F-7909-608D-7DF84F6EBB67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D8F3BF9-3EA9-B63D-22FC-60086F9E2C79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A9256DDF-2E1D-1D24-0DA9-13BD4CF313A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03F67E65-E2AF-F08D-5CA0-743471227E8B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A1BB02A-1E84-F724-0697-E0DCB69DCDC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756F7397-B428-27D4-0BBA-4ACD63740CD8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02AA70AB-25A5-59F7-A3B6-4FD896EB15D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1C6350C4-BCAD-12AA-E05F-20D70A2B2847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5BD557A3-A473-2DFE-124C-FB73A2E5B528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4A56F7D3-323E-0380-8622-D91CA6017238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E5521BEE-1E8E-3079-6AF7-5573508C7E69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A424E40A-A743-1DA9-3FB5-B80410992E7B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23C0B751-27EC-6BCE-4EEF-86505BD81B2B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19AE5CD9-0067-2021-F494-FC7F63900E8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BCA45988-0078-1B61-D71D-4C107877E6B1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B12C169C-F229-1DF9-9F3E-104C295E4590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AAC13735-A9A0-34A8-547B-55A79F6D865C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2D64B368-263E-02B8-DAF9-90E7C58FAE01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A74A7B7E-5C1C-95C1-0488-010E523D71F7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B4171572-A005-6F60-922C-747814367E1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5BB02E11-BF8B-563A-3C1A-834B593A009D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2EBC775D-8EAC-458D-2AE9-BA6FFDC3E348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25BDEBA0-98F7-F4C4-0893-AE66BD74F153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53496B0D-A43C-3BB9-8402-78B8A9170890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4707CFE5-785F-2DF2-936A-103C683E91F2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4CC4C568-9DF9-C92A-FD43-5611D856F008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4EFB137D-0B8C-8418-7302-F9BA26068A9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1AE5DD51-FA38-DA39-C0E6-37CA07B6FD1D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BC79E952-B856-8924-E505-7ADA883EA35B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10824425-BE59-B855-20CF-1CDD08C6466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2CF10101-894B-384B-CC94-4705C4A44E03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8042303C-DFCB-1B18-A505-D15E951DB6DB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001633-9D29-B402-8C1D-ED56A5A138E0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B1DA48AF-EA77-A7C6-8E77-B1926B8F053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A352793E-DE76-0A38-8DAA-83CB22EEE3F5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DEE2595A-88CB-5F13-4525-7C264FBCF35D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1AAA8F1E-173F-B650-DDD3-088AD6AB7F99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4DA2EFD-ED47-64D9-928D-1596FEC18A4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B025C5B7-72E1-A520-05A7-ECD9714EAD2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FB445E88-8BDD-0017-D5DE-80A9032EB2F1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3B1B4F92-37E1-3C63-D071-D090C975AC05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3ACDC246-61BE-2615-EC95-7C4AE13F204F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E5DAD44C-FD94-4EFB-A801-7B708B307A9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6F94EF2B-2892-73F9-6C96-514FD7F80BD1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0926FEDC-9510-1A7B-CFBB-E616C7E301D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BE4BC527-C843-EE66-95C9-053239715BE3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F18D6BC1-196F-116C-9666-260FBB632355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62984609-8301-C659-6BB4-2D0FD5A5B736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2CD5B535-DD52-F86B-6C5E-AFB4FF163134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541A515A-1345-81D0-D855-2AA0CFF1412F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49A8C417-A62E-7297-EBA2-03E6643CC2A5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6EA78E6E-FAC9-BFD0-CDCB-563CB47BA05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287D248B-F7F3-33D6-97D2-EA88104A84C1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2F8109FA-C85A-9607-8AB5-CB64562341D7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B3CA41D-EB19-CF8E-3869-DF8D1DE2EE2A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70EE2829-E4E7-6A26-D2B6-97F38862F87F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94AD594-A3FC-7986-E43E-0DFFF655389E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22D68BEB-A302-7C13-A604-45E42094675D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40F7EEAF-656E-6E8F-8B84-AF375E570A47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8E4F12C9-DB77-D232-46F4-CACFCC58362E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012D3192-B952-6DC5-F74B-488C7BACC367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CA703626-ABEA-3B75-AB03-B343B5244CA9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6FFD10C0-6E17-1009-2C55-54CF7814094B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C891610A-3789-8546-40D9-4760B5C37EEE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F2D6A7D9-642B-2882-6C58-258F17AE6BF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F92F9FBB-50D8-8D05-9C25-8794D63A4D4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17523801-78A1-6F4E-3C74-7F9B290B2C9A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129B33EC-48AF-DB2A-8403-7C418B3BF42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08FA3EFB-393F-35B3-8A34-C70234B1A2B1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994735CD-874C-5872-D93B-0BE5E9D97E5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58686A75-7772-0038-B0A0-9D316571BDD0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B056EDA5-E360-4D5C-3FC2-9FA68D6AA6B8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7B2CDE2D-896A-71EC-BC10-42AAF47583C2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7793B91-C7C8-ADFC-61B9-CC940F370CF4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Machine Learning Implementation - Classification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5C885-75A9-A0E4-BA36-336178A111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E74EA-3141-E282-74C9-14A50B56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16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A50A3-F6BF-570C-1A8A-9BD31688BB7D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>
                <a:cs typeface="Arial" panose="020B0604020202020204" pitchFamily="34" charset="0"/>
              </a:rPr>
              <a:t>Confirming Our Classifier's Performance (ROC Curve)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FA8C9-D130-51AD-AEBE-171FEAB06BF2}"/>
              </a:ext>
            </a:extLst>
          </p:cNvPr>
          <p:cNvSpPr txBox="1"/>
          <p:nvPr/>
        </p:nvSpPr>
        <p:spPr>
          <a:xfrm>
            <a:off x="680440" y="1235496"/>
            <a:ext cx="11146842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be certain of our model, we analyzed its </a:t>
            </a:r>
            <a:r>
              <a:rPr lang="en-US" b="1" dirty="0"/>
              <a:t>ROC Curve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graph shows the model's ability to distinguish between classes.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Area Under the Curve (AUC)</a:t>
            </a:r>
            <a:r>
              <a:rPr lang="en-US" dirty="0"/>
              <a:t> was excellent (close to 1.0) for all three classes (Low, Medium, High).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Finding:</a:t>
            </a:r>
            <a:r>
              <a:rPr lang="en-US" dirty="0"/>
              <a:t> This confirms the MLP Classifier is highly robust and not just "guessing." It is very effective at separating high-risk groups from low-risk groups.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9DAB45-C2BC-EBD3-0C08-050C52725851}"/>
              </a:ext>
            </a:extLst>
          </p:cNvPr>
          <p:cNvSpPr txBox="1"/>
          <p:nvPr/>
        </p:nvSpPr>
        <p:spPr>
          <a:xfrm>
            <a:off x="4031360" y="6031699"/>
            <a:ext cx="421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13:</a:t>
            </a:r>
            <a:r>
              <a:rPr lang="en-US" sz="1400" dirty="0"/>
              <a:t> ROC Curve: Best (MLP) vs. Baseline (LogReg).</a:t>
            </a: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AE6B3D-53A2-DB3A-E92C-FAA5C3163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93"/>
          <a:stretch>
            <a:fillRect/>
          </a:stretch>
        </p:blipFill>
        <p:spPr>
          <a:xfrm>
            <a:off x="1786875" y="3384408"/>
            <a:ext cx="8933972" cy="26252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4892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017B-B2E6-8417-74AD-E018B7F1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604DED3C-5933-E58B-F6E7-42E40DDC4EED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B7A3FEA-19B0-5F56-B4A3-2E7FF972DD78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B299EB7-67EB-3842-38F1-1CD31D4AB0B7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8FACB2E0-221B-C094-CBC9-D21B576D92D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FE587CFE-EC7B-8B83-AA51-D6A90F8057E8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02122EB4-B482-ACEB-29FA-09857A0A88F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8B7B552C-DE6B-9BB7-60E6-0A7EAE4A6127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C189A8DB-F08D-E818-7ED1-EF61A3E3DE35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8C9F64DB-61D6-71D2-E1DB-F5BB64729117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4C3E8321-CB8D-1839-DAA6-B3DC8727903A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75569EC3-3405-053A-0B95-053E999F997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FDEE007C-4833-409A-DFC6-9FC2FE8657E6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B0A78CF6-8951-E88C-4A97-BCE3F5C4E086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44403998-4E71-B7F7-5592-99F35878A353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1EA33DB6-ED7B-90C8-D95B-F4D5748D8E5A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236A3E2C-49ED-E603-F129-2B6831ACB26D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6D0AD239-26F2-AC89-7A46-3FDC3D1D5765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A86B1B4-830D-286B-023C-0E1502AA44D5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69EDB9B9-74E9-B612-0238-71E48BAB3FC5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5D12A86B-4A9C-21A1-0EB2-5365699A3E00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B5D8F8C0-EBBF-F94C-D92E-CC303A2E9F60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FC8D97D2-5DC3-0C09-23E2-E8DDE1B9D6AE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F35DDA26-7E77-CE06-1629-8273EE75D0B9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90B3AF38-5AE7-A138-92B5-424835031C54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8140810-9382-EF1E-B51F-90B4021B60B2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6EF64E62-5689-A6CF-2008-5556B676242B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5D3B00E6-5086-FEEF-DB29-0834656DF77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DCE6465A-168F-08BC-5CF6-35976C60F4A5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3419BF6F-89C3-48C4-5CB4-7975982B9E66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A576BA09-04A2-3511-4269-750565BCB0C2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2128E384-2186-3A3E-9497-09A06CFC402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B8FC758A-0296-9D37-0E9B-0DBA785B6064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477F248-4271-56D5-C7E7-52DE3E5ED952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A2CFADA3-B2AB-4E9C-A04C-E106FA8F06F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7DDEC89D-0D5B-2835-781F-3CE3375C3EF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D45B294A-789D-7226-A7CE-110BA63D898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8418A5AC-CD8A-2B8E-404E-2CC63B55B862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B4FA1891-7D4C-FCC4-FAD6-3D8C82BD6141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92552D4-3623-BEBA-1687-D539E70F58CB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DB07CDF7-3FB9-D8B6-34F0-6EAEB46405B1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5C6B6780-5BA9-5067-7EEC-B6F9516C5E54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6022B2C3-5804-6C8C-E29C-9764FC2413AA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DFC09E21-00E1-A2AF-30D0-FFA2102B0D4B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8B297D91-836E-A6E5-0C63-9681FF97CF0C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8ACBE6B1-6919-C598-B6FC-9FB709F7596F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FDFDFDD9-3A44-CE27-B41C-37FA4435F782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AF3F89E8-FA46-5D89-DE71-06F978E90A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75AA645A-3BEA-CE23-D9BA-67F214A826DD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5AC9CFB3-E159-AFE0-F765-444288B4A024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AE8A6836-160F-ED1F-A413-518373FB1A4F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6571EF21-526C-1BB8-57CF-01D9C97E5C42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3E6BD51A-1F04-7B58-99FF-60EE2EDED0F5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AE2D6B0D-E5BE-5B65-29EE-2729F4D41F56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10A04A16-2DE7-E86A-25B3-9ED6CF38882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6A4B49A6-F65C-4B1A-FC3B-A90030601571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E47E6DF9-5900-827F-014B-3C2F2B5D5298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EAD7914F-351F-A610-C113-C4C157676FC8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AFFC4F16-5AEB-B52C-D057-8B8C125547DD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DB62C05D-CF3C-7413-9E36-2A99FA428F26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A48EC7F6-CBEC-3682-CE98-109AD69B1A95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7AFE2CD6-E81E-F106-22B1-A343308157D7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727B129-9B00-3203-9588-1295B5691B3B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2B6E14B5-2C16-E983-6285-3AA5E505C8F0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2F0FACEC-0DA4-A1FB-64D7-51625F8EFB12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7F06CC34-C800-87FB-64D9-6D9D8FA21C5A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7E9D5327-9148-BDC7-FCE3-5EB3E73C9E1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F8B176C3-B584-8628-5CDC-847DA558CB5D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040682CD-0701-82FE-B8EB-0B488DC5E076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FE53D91E-71A6-C53D-A684-F18EC5035888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252A1ACC-3259-DA0B-8776-8A38C4C97AE0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F8229D35-3357-FEB1-2B5F-D98A45C0520C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2291BA70-CAEF-E676-0E0A-9C404BFD0B25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8E04F11A-A83F-C0BA-4732-E03D00C4D91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C3B1DD3C-8E02-E337-FA51-CAF82EAA51F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9055128-E697-9A27-E4E1-D31C7A760B80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Classification Model : Logistic Regression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B5C65-663B-F3A2-95DB-123B67EB84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E552F-AD6E-DB74-1DEA-3414BED37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17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8C22A-F280-212F-F8AC-376E290BC2E3}"/>
              </a:ext>
            </a:extLst>
          </p:cNvPr>
          <p:cNvSpPr txBox="1"/>
          <p:nvPr/>
        </p:nvSpPr>
        <p:spPr>
          <a:xfrm>
            <a:off x="364718" y="889323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Classification Model 1: Logistic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6CF50-0E5E-BAE6-B9CF-592C2D4C52EA}"/>
              </a:ext>
            </a:extLst>
          </p:cNvPr>
          <p:cNvSpPr txBox="1"/>
          <p:nvPr/>
        </p:nvSpPr>
        <p:spPr>
          <a:xfrm>
            <a:off x="680440" y="1235496"/>
            <a:ext cx="4711069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establish a simple, "baseline" performance for classification.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r>
              <a:rPr lang="en-US" dirty="0"/>
              <a:t> A linear model that's used to predict a categorical outcome (Low, Medium, or High).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Performed surprisingly well, with an </a:t>
            </a:r>
            <a:r>
              <a:rPr lang="en-US" b="1" dirty="0"/>
              <a:t>87.6% accuracy</a:t>
            </a:r>
            <a:r>
              <a:rPr lang="en-US" dirty="0"/>
              <a:t>. This showed that the classes we engineered were distinct, but we believed we could improve this score with more complex models.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94223-8CCB-2333-13AC-E869879F43BC}"/>
              </a:ext>
            </a:extLst>
          </p:cNvPr>
          <p:cNvSpPr txBox="1"/>
          <p:nvPr/>
        </p:nvSpPr>
        <p:spPr>
          <a:xfrm>
            <a:off x="6515352" y="5952452"/>
            <a:ext cx="441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14:</a:t>
            </a:r>
            <a:r>
              <a:rPr lang="en-US" sz="1400" dirty="0"/>
              <a:t> Evaluation metrics of Logistic regression model.</a:t>
            </a: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EA051C-BE1C-EFA5-A848-A093F1B3D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112" y="1028144"/>
            <a:ext cx="4553701" cy="923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E04AF390-79E1-937C-30B8-BB560545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112" y="2096102"/>
            <a:ext cx="4553701" cy="38563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314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E24A-C775-E9F6-F82E-83702FEF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3A565242-C281-BA79-AB88-18C62586D851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584EE00-A2B6-53B4-FC0B-181CB047B715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12B4521-8BFD-3029-323C-32367BF3FC44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E78A1DD0-C5C9-26E1-163C-F9CCE1C7D6F9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4962CE6D-1BCE-51D3-CABD-E6F45054D6EE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7D801437-CEA6-0183-C9D4-A545BE6D9283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5C0F3621-BEAE-4980-B803-F32808E95A64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4F6F1D53-1AE5-5FB0-EA2E-2DF8DFE205C7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0F374CB-F591-C607-8D22-B7F6CC07EBF5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8485B13F-FE03-836D-404A-87CB82966BD6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23E8A580-ED34-C05A-CF1F-37B7BE815FA2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E0780EC4-AEA5-DDAA-2C10-4C6C9713C08B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9D4ABA08-914A-3462-DB3A-93A97CAB97C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A34299C0-AD49-FAC5-640B-9B91C2FA71E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8A1E49D4-E22D-1760-85A3-0F4721E23FD4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8740A780-958C-8541-D15F-5BF639062903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1B0ACA0A-8978-8CEC-499D-2587D7ECF8DC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CE3EAEA4-AC67-B920-2F37-C26343B26CDE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0A329B6E-D8E8-58F5-DD28-14B74A05F5AB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08411221-784D-8AA9-908F-081AE135EA6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9C431F82-6045-C227-679E-4A955E6FF3D9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19FB1B4C-6D4F-5B22-EC87-DB7039FCA022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A165420B-5BA5-D15C-D3F8-FEAA04831BAD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2BA2DB6C-369E-BF51-A4BE-D2D32DE675E5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FB5A9F47-9632-C61A-F702-584D89546A9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E5928BE0-4FB8-9F07-E919-3B3AD79D3286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055A59F9-A16F-B413-E01E-3658C69E62F5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477F6A8-F74E-B513-B685-9241C6356DD5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5FAF806D-19D6-A85B-0B16-FA7C6E7BF32A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14779F84-1998-0A95-92F4-1744FC26B0B8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2ED12E03-4C0C-68E6-2591-735110D05FEB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B5F9A830-578B-C988-ED73-EFEF36F291F6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E9327523-AC7E-79ED-2259-899622514B1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DBA84AD-6286-E755-4D1B-598C706C8623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E3DEF284-6655-F656-CF49-021F08DE1131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5FC2243-E736-3F58-2B15-625F439C16C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C72D260F-AAD5-60B5-02D9-85B5279BD813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7C0692CC-24F2-F0BA-AF1D-9F838D67805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DDAAC13-4EA3-F6F7-57E1-E6ABF810FB28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50CEB6C-95EE-7484-D970-B10BE621EDE9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FC4D3BC4-F78C-4A9A-58F5-AB81C4AAEC03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CE67CBEB-EA3E-093F-2E6D-AEA29F3E777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DFCD2D05-02D9-D136-1A04-D7A43784F184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5C340406-6D39-D28F-85F8-CC70FCF42C61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2FCDAF74-9B5A-626C-711D-B69AAC224105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EC61E787-9C03-EAD1-18AA-8928ABE577FE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98DB3246-27E6-4A4D-B352-744BF663A556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0D326673-C60E-FC37-6F83-47B103B71D9F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44BDF3AF-FC68-C606-CEF2-D90FBEB62174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7C21BAD3-D333-8867-579A-1FBA6E82DF1C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0DC132A6-2734-2B30-3E00-A53D914601F5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F1F6B86B-64F5-D547-CBC2-5383DB7FDC39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3DE58758-73C1-461E-BA07-D427EDCB65F7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7B7989AE-EB80-823B-DF26-65ACD8DDE22A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2E9E03D5-B4B1-FFD0-719F-5E79A58E1177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ED7A328B-6B0E-1A3B-F73E-DA51478A867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24699A12-3D1F-142F-3DA6-156591AAF7FC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85036818-DF79-DB08-42DE-A8C62C85E5AA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B79AA4AC-0F41-D287-7011-FD03D2330351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962F985D-E1E9-465D-0643-B4076CE0DF5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5FEA0DFE-1602-F530-377B-3E4D3D498E86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E6D308BF-B075-962E-7E13-60DF1820ECE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B565207C-280E-9F70-8E48-7AF95804454C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87CC79A7-BD63-FC4E-6F6C-8326D35F5239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C4AC2E8E-11A6-4EB5-A299-5DCE2C745609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D1D2819A-98BF-BE11-4ABA-66004D711B8D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3B5B89DB-7247-9B8D-53F2-656530871F3D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F64D198C-2CE4-7EFC-8D48-FD073B80558B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547A6DB4-8D72-2351-AF9E-F48C1ACDC482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312E2CDD-6869-2B94-B29E-676E2EEF63BB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BDF66F37-9ABE-9F39-0672-56B14C13D5D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4A70103F-F098-8944-899F-6552DA89EF4C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35FEDF1B-31F7-26C1-27F5-CC3C5118800D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6D6F5C4B-6545-DD3F-3DE0-41211F129A07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6B37324-0E63-4A8C-05D8-5CC477E46483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Classification Model : K-Neighbours Classifier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09E27-C40E-01DA-C32C-29C149EA30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B6145-8E34-BF63-4140-7CB81551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18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2F984-3E49-DBFC-D3CA-CF18573CB9F7}"/>
              </a:ext>
            </a:extLst>
          </p:cNvPr>
          <p:cNvSpPr txBox="1"/>
          <p:nvPr/>
        </p:nvSpPr>
        <p:spPr>
          <a:xfrm>
            <a:off x="364718" y="889323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Classification Model 2: K-Neighbours Classifier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64AF8-94EF-8CC5-BD50-16B890D6FE51}"/>
              </a:ext>
            </a:extLst>
          </p:cNvPr>
          <p:cNvSpPr txBox="1"/>
          <p:nvPr/>
        </p:nvSpPr>
        <p:spPr>
          <a:xfrm>
            <a:off x="680440" y="1235496"/>
            <a:ext cx="4711069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test a non-linear, instance-based approach.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r>
              <a:rPr lang="en-US" dirty="0"/>
              <a:t> Classifies a new data point based on the "votes" of its nearest neighbors in the training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Poor performance, with only </a:t>
            </a:r>
            <a:r>
              <a:rPr lang="en-US" b="1" dirty="0"/>
              <a:t>63.1% accuracy</a:t>
            </a:r>
            <a:r>
              <a:rPr lang="en-US" dirty="0"/>
              <a:t>. This model struggled to find a clear pattern, likely due to the high-dimensional nature of our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8D823-C26E-1427-22A0-8B863C23CEAD}"/>
              </a:ext>
            </a:extLst>
          </p:cNvPr>
          <p:cNvSpPr txBox="1"/>
          <p:nvPr/>
        </p:nvSpPr>
        <p:spPr>
          <a:xfrm>
            <a:off x="6406719" y="5174522"/>
            <a:ext cx="4695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15:</a:t>
            </a:r>
            <a:r>
              <a:rPr lang="en-US" sz="1400" dirty="0"/>
              <a:t> Evaluation metrics of K-Neighbour Classifier model.</a:t>
            </a:r>
            <a:endParaRPr lang="en-IN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0E9D56-1E2E-871F-4647-C81362DD9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087" y="1447753"/>
            <a:ext cx="5007102" cy="3664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8358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EF81-98AD-0294-B117-EA0F6B55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62F3C666-4DA2-D79F-1C67-CDBCEB176D7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8499430-B466-47DE-4076-545ACDB427FA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146BB48-B50C-5594-AD52-9C216624A40E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14AACB2A-D3B6-6266-45FB-B6A923D1CBEC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0EDB8DF3-06F1-509C-A25E-80217DC12E69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A9ECB1F7-6DCE-0469-8573-FFC14B18E139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1BDC6818-CF8A-0EB4-814E-5B4E06FEDF3A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0C221D9D-0B2C-DE5F-E56A-7A91AF80198C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D89B0444-EA3B-9095-D71A-10B77A2DE447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52E6197C-85B8-6EFB-5175-52BCE0A7AC8C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BE771AA8-FFCB-DD8F-6D0F-141E5B6225A1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631361D3-8F26-8A6C-6BD7-3427E2A74D78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41ACD518-5F7E-ADAB-5E6B-077BE7AB7AD9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C78EC950-A6CA-DF18-D12E-4052C44D38BF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59E6A981-2E34-1E8B-281B-4A7E38C0F021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8D0E3A55-679A-0FA1-C197-833F43A64FD8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A11E2168-BC00-5767-9F54-95487ED73CE4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F35592F2-3CA3-E6F4-1698-3697375D0381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C3560CF9-8EF5-1998-5A33-D02F5E81C4CD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25507EDF-5F56-B6F0-8F17-75A98C1DAEB0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7453691D-D95C-9835-B160-E913DC0422B8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B7E0564-21F2-83A7-F7E9-890E6915BF1F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FAFEB122-248B-F6E8-6471-E675D0842FB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D6A620EA-350B-5C4F-9DA0-D6B4FA1F9264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2C50F613-AF64-ABA2-4517-EA71298885AC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A491F08B-DBCE-D58E-2F5B-244C0509DBAB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62BFDEDE-F400-15CD-BE62-259CEA5CFB09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2B606F28-89A0-8201-C585-57EE5EBBF18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E29F4279-0AC8-F1D3-8C15-B4C8A1EF3CC6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9DAE944A-9D40-66A2-4B57-39068AAC3E0A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757777C5-4E43-76EC-F57A-DCA10984A191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40A642B7-281D-57FC-ECD2-39585C099C64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CA704D5C-B2BE-FCE8-6B6B-F7238ABADF62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DEA023AE-1CD9-F7F2-240A-79A01878A260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4EE67217-86CB-2368-3C95-EC418E6EBE5C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35823B50-265C-52B4-1472-02C573D7FC8D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A5C95689-7329-4543-F717-7BC23CC3F2AD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F5B475BC-0813-18B5-3F70-35D35A239BAC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97F49EC-BEAC-4105-B28A-0083BBF81A8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142EF97E-AF2A-76A0-0C85-56DD37AE1C7C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99D30857-4BE0-08E7-73A4-212846778F2C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74A11B6A-362E-264B-AFD5-3E8DEEE79291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7464C2B6-36F5-F43C-3FDA-6BBE212D996C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EDF1B17D-B74E-CE9F-F6BD-D33578C40889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A89BF71A-89DF-4995-B361-EBFAFE7FDDEA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B8D87F2D-267D-5503-57D6-C4725D1BAFB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9272CD6D-F85E-BBC0-EA37-AB8A909C210F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103AF813-FD24-D5F6-C965-9FCA67E686BF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69DA2228-2712-6E4D-2CB5-E55E63B35C64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048937E9-7E88-BAA8-BFB7-2E352FC03C9B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1B6CBE2F-F3E6-7BCD-D1BB-29A7533515A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0AF24E9D-35FA-C9BB-210D-CD23D2CCCE8F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6D6D6667-5BD5-D056-FC2D-412C1463326F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6D3646F3-D8D4-7ABB-AD41-777B3D3E689E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5B3EBC20-5790-35CD-8482-81226EE8BDC5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9DD788BD-7544-3650-7CB9-6337417A4E08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805B5499-79BD-5CA0-0E6D-474451620AC6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0ADED5AF-9147-8413-F64A-910825D35B52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F65DFB24-3449-1FB8-D77F-233ADCA0CA2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60AF6DF8-9CBB-60BC-7758-DC7D84805F8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D3685405-6B1A-E528-0899-0CCBA9E9CF82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AA0FD060-AF9A-1E00-6652-A1B01D83BDB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0E0D5390-7BEF-19A7-7BA4-CC0511C06536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CF84E706-00D3-44DA-AAA0-DB9AD70BBF35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8CC7E667-8B6B-8601-A225-26ADC07976E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9329AD80-8376-7ED0-8DAD-58C0A877F544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26EA3975-3E47-4C63-6C9E-89BBA0061A34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02E73E89-C4E5-1B22-7D58-3EABC9151061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B6DA5B52-9E0A-440A-6AD5-2D43DB3EF7DA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E46D5F90-E0C6-66F0-145E-086AB9A0C18C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A5059C80-0D85-D3B0-C743-E0B256842690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3D3DC1F8-190B-2164-14CD-3C49EF1E5335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A7231C6B-8FBD-5F43-093D-DCBA558BF2F5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6DD03993-C4E8-76F2-E7AB-06DF292A6F97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481E51E-04ED-E9BC-B328-ECC0C497D41A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Classification Model : Support Vector Classifier (SVC)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04047-F075-1EB4-0BBE-BEF96CE7F8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43972-7A5C-2640-1B88-7208E8806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19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96A4D-8647-3FC3-81A4-ADEFD2A5D1B2}"/>
              </a:ext>
            </a:extLst>
          </p:cNvPr>
          <p:cNvSpPr txBox="1"/>
          <p:nvPr/>
        </p:nvSpPr>
        <p:spPr>
          <a:xfrm>
            <a:off x="364718" y="889323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Classification Model 3: Support Vector Classifier (SVC)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75665-9AB9-C1CD-01AA-F9D7F3AC753B}"/>
              </a:ext>
            </a:extLst>
          </p:cNvPr>
          <p:cNvSpPr txBox="1"/>
          <p:nvPr/>
        </p:nvSpPr>
        <p:spPr>
          <a:xfrm>
            <a:off x="680440" y="1235496"/>
            <a:ext cx="5126802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use a powerful model known for finding optimal decision boundaries.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r>
              <a:rPr lang="en-US" dirty="0"/>
              <a:t> Finds the "hyperplane" that best separates the data points into their respective classes (Low, Medium, High).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Good performance, achieving </a:t>
            </a:r>
            <a:r>
              <a:rPr lang="en-US" b="1" dirty="0"/>
              <a:t>87.7% accuracy</a:t>
            </a:r>
            <a:r>
              <a:rPr lang="en-US" dirty="0"/>
              <a:t>—a slight improvement over our Logistic Regression baseline.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4BB28-0747-E997-C833-30D7DA72B142}"/>
              </a:ext>
            </a:extLst>
          </p:cNvPr>
          <p:cNvSpPr txBox="1"/>
          <p:nvPr/>
        </p:nvSpPr>
        <p:spPr>
          <a:xfrm>
            <a:off x="6445621" y="5279870"/>
            <a:ext cx="4968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16:</a:t>
            </a:r>
            <a:r>
              <a:rPr lang="en-US" sz="1400" dirty="0"/>
              <a:t> Evaluation metrics of Support Vector Classifier model.</a:t>
            </a:r>
            <a:endParaRPr lang="en-IN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DC7F96-5BF3-C8A7-CDBB-6ED21B092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352" y="1748746"/>
            <a:ext cx="4828887" cy="35311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9953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0A3D9-2BDB-4E86-4079-F13139B9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969FAF89-3D3C-7B5E-4DD9-0E7358E0182E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378468D-1BCB-5263-290A-4F8532DF5563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58C57F9-F7EA-071D-6744-4D6BF8541D85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8D3E1DC5-76A6-C3C1-0890-BBB2CF9A8717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D2F426C7-5D46-6594-D5CC-9239F48A80A7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699FF642-0FCC-2BC4-6822-4C37586BCAFC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783853F5-184E-BB4A-871F-7C836DB1D3CC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9D0D7086-1C18-264E-F50D-A96A42A4DC4B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2C39354-2AEA-9CC1-AF9F-2D92335D7C23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BC595CCE-F363-7FDD-8DFA-FA20AC006217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FB0D6389-D59F-428E-47F5-4B109A09C335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0C9B3BD2-4BF8-9259-0AE5-20308327247F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67CD5B0E-44C0-05D3-6886-003D4377ED48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8385FB24-44D1-E864-CCC6-D00431434ECB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5A9E4CD-E4CB-A02C-0C00-4F307C50D99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7C52659C-608B-23A1-B33E-4F86B1C45CCA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85F45779-E106-F991-96DE-B6372274552E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78A7D85D-0849-94B0-AC87-E0B0112B2DD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E454C9E7-BB32-D365-2243-2D0A9AB7AC21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8A829A70-53D9-80B5-8E15-23AE14A09F4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F78A5FD4-EE37-5BD8-9B5D-EFEB9FB32708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5B1FA354-0027-1CF9-9F63-5FFAC8B5151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CA55A6B0-0427-0963-E26B-261D247D9B66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9F3CC7D2-D714-DB98-D96F-22EC9A6DF024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AEA01B6A-6FA8-7087-3BD1-B9D1ED28114B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E9FDE793-3930-C868-8AD1-E27B7350CF88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828CDA29-89C0-3379-B534-3B26B5C4DEAE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C40BEB94-4437-1581-DA16-794EAA916EDE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0637986D-9F35-539D-A557-F9942B85802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C428833A-3C44-6CF3-EB60-12A1AB9E11D0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CDA53C68-89B0-A047-5C97-F89DB3144B4C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1FB514A2-9C60-5264-69EF-1EA49A06F7D0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BC759D6A-78F6-4B0C-8259-58754896E886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C6D423EF-4C5C-C943-658F-03B9D3DB9F7A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2E105B0B-28F1-AB31-7D17-7F864A0F106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70AB59C5-BF59-ECA0-FC09-56E2C1C6470C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899FFFF5-7186-7E68-D83B-AFD39F219460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AD020AB7-CA0C-772C-5972-B1EA5D24B97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334A1BC-5FAF-936F-910A-52440681D69B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8306417B-959C-4E5F-B8EF-68475604168E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B6FD7A00-BAB4-C686-55BB-3D5EBC6709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F4A3A80E-8F4C-27C9-BBC5-893426652F83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9C61BC9E-C15B-7CCF-5C08-48DA61A673D0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0F911A81-D920-4BA2-EE40-C04DDFF27C88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25C9EFC5-53AD-34B8-D2E5-8E86E167B0CA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6F5F867D-00E0-F3CB-B035-6967E2BF21B5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2B629A4-5B00-B8C1-6A29-7387DECCA23C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68AE9628-AD24-8242-7257-6DCC7358E08D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CEB86AC0-0A0E-D498-EC46-34913E602E9E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C56A74F9-19B1-78ED-D0D7-F6FB4CA4EEAB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CEF0AE7-0220-B8DB-D4A1-1107D953FA6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7A199F57-C693-0DAF-4BED-063D33700026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83329EF1-0AAE-5970-D7CB-E4713A437A5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30809BBA-2525-28FC-3579-A4B6A465CBE3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E5B622F2-B1EA-1AE9-AF5A-7BCE3CC2C3AE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36E979D-FD32-CE7D-8298-B2CD94387B86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ED6D8514-F371-2CB7-1CA7-FB216972B0F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9DE30D99-C164-EF9E-E3F9-58A7FD6EED5C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E90DB3CB-4053-F2D9-CE7B-0F730ADBFF19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D6A5E899-5ADA-FEDB-3A10-0AF5B84A9EC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439CE4D8-A9F5-0E3A-928F-051C21A7F3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102F3A8A-78FE-99A8-0881-B22DA6D3585F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AB38034C-105D-88F9-F8B9-6B6EB4283F11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C9E0D3DA-080E-6ECC-C323-F08C18593927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20DD2B01-7529-AFEB-0F69-34930608C7C6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D2D382EB-48EF-C961-C0C0-434C878BC6E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0A7F0C41-5361-C507-4AF3-393082421DE9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9362E485-2118-6841-8347-D59F2A7414FD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B1C7CA44-F560-3E4F-0E66-EC07499E7AA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16225EBA-9C40-21E5-6E37-5D8EB8545433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344B6830-87A1-DFDE-91D5-9899583800D5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87BB3807-F28C-8EE7-28A4-FB1709B9225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DBAA4692-3A05-C917-9476-C631D75C1683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43199E86-9A69-CF59-87DD-904C1CB1D79A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39CD65E-6A55-5A1E-37B5-B1A5D35BFB77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Classification Model : MLP Classifier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34764-7233-8FB9-6B38-177FAE5DC8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53576-14D1-4045-8BF8-5C59B208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20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B428E-AC4C-C818-BC5B-B07BDEADEBD2}"/>
              </a:ext>
            </a:extLst>
          </p:cNvPr>
          <p:cNvSpPr txBox="1"/>
          <p:nvPr/>
        </p:nvSpPr>
        <p:spPr>
          <a:xfrm>
            <a:off x="364718" y="889323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Classification Model 4: MLP Classifier (Neural Network)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C31E7-4F38-69ED-547F-FA825B2D8652}"/>
              </a:ext>
            </a:extLst>
          </p:cNvPr>
          <p:cNvSpPr txBox="1"/>
          <p:nvPr/>
        </p:nvSpPr>
        <p:spPr>
          <a:xfrm>
            <a:off x="680440" y="1235496"/>
            <a:ext cx="4711069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apply a deep learning approach to see if it could capture the most complex patterns.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r>
              <a:rPr lang="en-US" dirty="0"/>
              <a:t> A "Multi-layer Perceptron" is a type of artificial neural network. It passes the data through several layers of "neurons" to learn very intricate relationships.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This was the best-performing model by a clear margin, achieving an </a:t>
            </a:r>
            <a:r>
              <a:rPr lang="en-US" b="1" dirty="0"/>
              <a:t>accuracy of 91%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E3E8C-C42D-D768-C7E9-25DFC2DC1C07}"/>
              </a:ext>
            </a:extLst>
          </p:cNvPr>
          <p:cNvSpPr txBox="1"/>
          <p:nvPr/>
        </p:nvSpPr>
        <p:spPr>
          <a:xfrm>
            <a:off x="6515352" y="5072675"/>
            <a:ext cx="4700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17:</a:t>
            </a:r>
            <a:r>
              <a:rPr lang="en-US" sz="1400" dirty="0"/>
              <a:t> Evaluation metrics of all regression models applied.</a:t>
            </a:r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23B7B-9553-AEF0-A0AE-E21E2ACF34B5}"/>
              </a:ext>
            </a:extLst>
          </p:cNvPr>
          <p:cNvSpPr txBox="1"/>
          <p:nvPr/>
        </p:nvSpPr>
        <p:spPr>
          <a:xfrm>
            <a:off x="922089" y="5411585"/>
            <a:ext cx="6152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/>
              <a:t>These are some of our classification models applied.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8C9D65-CDC5-70C5-EDC3-74426AC35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1" y="1703295"/>
            <a:ext cx="4850614" cy="33834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3929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5248-42C9-91D2-1190-545EB500A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D5AFE7A1-ECE8-94AC-ED19-2263F8D75463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AAC9F34-EE79-1B7E-37B0-F0E7A2551609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71D6DA2-B2D0-2704-4771-D5D75D4BD32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58C649DE-5549-A692-39E6-80FB964B6C7C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2293D72F-68B9-DE16-BB59-B45E4AF55DA3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8981E1D1-A3D1-F7CD-6B69-D08A9E3F415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D1E3DA68-134B-7D58-EFF6-365989501262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3EAC3DDB-D87D-F82B-1D47-212168DDD1CD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7B60F766-5446-5CF2-2C42-04FD8D7A91B3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EAD0A6F9-69C1-CD66-BAAF-AC361EAB55BA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ED23397F-51B9-6417-9343-40106EF817CA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E1F093EF-5D8E-A2D0-2E82-60C861CA6E0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1B65FFD3-E22A-E7C0-8F71-CAF697C3D14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FB1665B1-8E27-372C-A40C-B8093CD88FDE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3D96DBC1-CD4C-32B1-7EC3-99FB6D4F8F9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C230DB8D-BA79-67D1-4809-45873BF1B8E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71E71691-F226-AF62-B680-89D194415C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A040652D-B29D-666C-1F7A-39B1A27F2456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8CB4F2CF-61D8-0AB4-D696-26E1FB76AE59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9FD7ED5D-1FCC-7CB3-029D-3E2D7ADFC9D0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75FD6115-6C80-BE56-28B6-E919B31D0E23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88BD9FC5-EA65-167D-3E7D-0C94C355D4A5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D2095B5E-E888-138D-4A49-549C8ACFB6C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EDBCB327-0223-2C73-3348-03A7107AA0F4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B0A8203E-3E38-C4A5-5173-EC9A7A3EFC37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8B849BC9-0DC6-34AD-D5F7-B464D438BFAF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E84A514B-0E68-9FAF-F531-23AFAA383081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3DFC51A-B431-F96B-5E39-EA2C6E0ADA23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BA610A11-5297-D380-E7D1-E1E460F85194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A36DBD8A-5DD4-A1DA-41F5-15E0FBC7DBF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C590BC5F-C4CF-E5DF-4B0B-F1461F1E6E9C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174E2AB0-7AA5-663D-7DB7-02D41BDE57F9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61C65CD3-4D00-66AB-85DA-6A1081D6F976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1B77B67-EBF2-F1E7-BC48-EA833C3DFA2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4826C690-C6DB-FAAC-871C-50EF57E25C38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3FDAA307-E384-90B5-F3D5-E16B39E4FAF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ABC97C4F-4E7E-3C51-4972-F12B2D3A408D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2ECC1F33-0CFD-174C-8C0B-CFBD720A1D6F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A25B775-D2CA-9275-4D91-9D95FE898CB2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D72AB4C4-BF13-2B7F-C87F-D42CA3B3440C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E3559E17-33F9-D2E3-BFAF-53FDB335D85A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5CE5F537-B1FF-58D6-5214-9A7E61097C03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4803A272-9A20-B2CF-072B-42D2FAC251F7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767B4A59-45E0-791E-A95F-E1D7D569F651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F2FDD222-A031-FB3F-2C4E-C9897A106DB6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50C8925B-1DB3-3E80-EFD4-83890F5161E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ECFBB50C-4BBB-8366-7A28-8CFC07155B08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371B55F7-3110-FD37-BC59-6F9F00C11460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06DC22A7-05D5-5EF4-EC26-45F3F0272EB5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7B312F8D-EC71-65D1-1D6A-6DBA602B9082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43BA7E63-1FAC-1C08-B9EC-E2A5B2BB55CF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34CF6C24-81C4-608D-B134-CDED1A64F31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9186AF3D-E2C3-E717-6F33-E8225E7CE286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A38C9DAD-BFF0-0DC6-5869-3477561BE514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2F2CBBDA-3EBC-ED3E-DD1A-D09C2A20F7FC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77A8DED0-14B0-D4C0-09FA-E9FB70FC2DB7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E905AA7A-D52F-4C42-D413-BE3793B43FF8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4C9915B7-1241-6278-6ADF-E5D41F9CA61C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12F6DB0E-76B0-64D3-3928-30495118D4A7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7AB024D9-6A57-7EEC-4AFD-A5E1505F2379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7A826B66-04A3-5376-CCF0-900BB0BEA858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B3E379D9-5024-726D-DD5F-57F2A904A21F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B918603B-1A5D-122D-5B57-AEF37C3F3EC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4B9850ED-7280-8BCF-8D91-57AECA2ACABC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2B5D85E7-6ED5-E507-EFEC-46CD2BB018B9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AB67144F-7D82-E88C-3753-8DC169675794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96A96E6B-6E3B-EE13-C3CC-2D5C28BCE236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83EB571E-6D0B-6B11-32FA-6693FC0DD4AD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73D4FBDE-AC38-6386-BFB8-1FBB904190FD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6FF5F50D-A0E6-11D8-8866-D8EB5CA99B92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3E2D4EB1-F4C2-010E-19E5-0D62DAB9B8E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B13CA8AB-74A2-959F-2521-E6DA02510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919022BD-1A95-3E13-7B5D-B440355E96AC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24F61FD1-CF87-AF21-8E27-01707DF98328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473D27-2CEA-B177-51CF-38256039FBC4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Machine Learning Implementation - Clustering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4F49D-BA41-4FB5-B4C6-C7E17E46AA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68D8E-4DAB-C563-8EF9-CF8F23FB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21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698F6-2D72-0AFF-7E96-FCB9F3E15996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>
                <a:cs typeface="Arial" panose="020B0604020202020204" pitchFamily="34" charset="0"/>
              </a:rPr>
              <a:t>ML Task 3: Clustering (Discovering Hidden Profiles)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836F0-645F-C614-33B7-DF097EE9D968}"/>
              </a:ext>
            </a:extLst>
          </p:cNvPr>
          <p:cNvSpPr txBox="1"/>
          <p:nvPr/>
        </p:nvSpPr>
        <p:spPr>
          <a:xfrm>
            <a:off x="704858" y="1144676"/>
            <a:ext cx="6831839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To use an </a:t>
            </a:r>
            <a:r>
              <a:rPr lang="en-US" i="1" dirty="0"/>
              <a:t>unsupervised</a:t>
            </a:r>
            <a:r>
              <a:rPr lang="en-US" dirty="0"/>
              <a:t> model (K-Means) to find non-obvious groupings of countries.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Method:</a:t>
            </a:r>
            <a:r>
              <a:rPr lang="en-US" dirty="0"/>
              <a:t> We clustered countries based on their total excess deaths and the proportion of deaths in the elderly (65+).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Finding:</a:t>
            </a:r>
            <a:r>
              <a:rPr lang="en-US" dirty="0"/>
              <a:t> The model revealed distinct profiles. For example: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Cluster 0:</a:t>
            </a:r>
            <a:r>
              <a:rPr lang="en-US" dirty="0"/>
              <a:t> High total deaths AND high elderly mortality (e.g., USA, Brazil).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Cluster 1:</a:t>
            </a:r>
            <a:r>
              <a:rPr lang="en-US" dirty="0"/>
              <a:t> Low total deaths AND low elderly mortality (e.g., Australia, New Zealand).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Cluster 2:</a:t>
            </a:r>
            <a:r>
              <a:rPr lang="en-US" dirty="0"/>
              <a:t> Low total deaths BUT high elderly mortality (e.g., Japan, South Korea).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provides a new way to analyze and compare national outcomes.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DAD25A-31AC-C559-4A28-59A9BE296043}"/>
              </a:ext>
            </a:extLst>
          </p:cNvPr>
          <p:cNvSpPr txBox="1"/>
          <p:nvPr/>
        </p:nvSpPr>
        <p:spPr>
          <a:xfrm>
            <a:off x="7574685" y="4578574"/>
            <a:ext cx="4476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Figure 18:</a:t>
            </a:r>
            <a:r>
              <a:rPr lang="en-US" sz="1400" dirty="0"/>
              <a:t> Country Clustering based on Mortality Patterns. </a:t>
            </a:r>
            <a:endParaRPr lang="en-IN" sz="1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394B9D6-058C-6AA0-3BCE-3730E29B8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685" y="1326804"/>
            <a:ext cx="4411719" cy="32517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064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D7687-1E14-22EB-6AF4-C7D779E7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162FD4D7-1BB3-6694-7B59-3040E59D5E37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30BD575-6651-FF70-BEA2-9CA12DAE7525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2CBF3CD-E416-9181-68A8-4075CEAD275F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10E8C828-B627-53EF-51F5-2D63960C6C9E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8166E785-52FA-5307-058E-1FD9100860AC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B4A2642E-EEB0-9D65-016E-B914CEFE70C3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A514FD41-6EC9-E3EB-9B98-72A36CF84F9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7D0F725F-AB8E-28D6-4755-87C5ABF1DFE9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80E6C845-BD73-ED9B-5E14-DA3C29E0DA7A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E5602F86-6836-A078-C655-BEEF873615D8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9158EF54-401C-F645-BB8E-69AFA0CB5C02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D5052A5B-CB01-EBED-ADE6-14E167EC3145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A400E42A-AD4A-3381-69BE-72EE38D37F94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6F6E2AF6-BF03-B2C8-5689-4A2C42F27B9E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65C90F6A-3215-9DF9-24A5-CEB3EE89B312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E68243C1-540C-A317-BEF1-406899518E89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33D20E34-D054-F852-6076-22BE13A1B947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B85A2A01-ACB0-718A-1D4D-1AA8375E3C5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0300B6E1-0F66-795E-E961-E6D50F2C68B5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FA9DCE2-38EA-B0AF-CEF7-89E94874334B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A9A51E8A-03F2-60F4-D929-6215E0573107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BED4C0BB-729A-2FF7-3DC5-767033479FEB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CA189C1E-0AEC-A6A7-5844-5B6394A780D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807E7D0A-C52E-1F08-9282-E189C70F576B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8B61CB46-A199-E30D-58F0-E3697C0E8337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E2C9EB5F-067E-285F-26A2-4575F822BAD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37B248AB-745C-EA67-9264-10F5D5D000A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6ABE1495-60C4-23ED-5F81-C97CD5DD3077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484A27D9-1662-05E6-CBA3-484983DB78A6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5EF1F9AF-149F-3C5C-B4F8-4EB8A958AD7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03CB7B95-4C9B-B7DA-72F8-73FC1B3A318B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FA8BC997-BE53-2E4E-0A3D-94C61F637792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BCE63990-9407-0618-75F2-7A79F2A855AE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8C0D5FA8-5DCF-E3B6-B9EF-42834930AB00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2E9C6966-BFC2-48BD-1600-497E92ABA570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1D9AAEB-D054-CDF6-5B4F-6C3796E195A0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BAE7312C-D9CB-9C8B-B166-39D7D0EB4437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ECFC6868-3A3B-49D0-D2F4-4AFD2A30FEEF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B5549D5-9A33-6F55-9FA8-24C4E09885E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0C8DC7A-8349-B5EC-C7A9-3579E0CBE5FD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B9B59FF7-C7BC-3D87-6386-85CE98AE0C23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8D4951F5-6536-27E6-9A34-4F54E9245DC7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53B0EA09-EF5B-3325-6AFB-A61EE52219CF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DD03D850-2054-EE97-0774-AE63705DBCA7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805B43AF-1C16-FE90-0192-9E3302B3345A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41BF3CB2-176B-F2E6-9A8D-CEB804175AC9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24F246FF-3EC5-F278-4AED-94D9448B3C04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C812877A-EDA1-F2C5-AEE8-B2A01D3EF3A6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6213B141-DAD7-B679-8541-5BD3A918C0B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31D2B3DF-61C0-DB4F-3B9D-27A0F27005D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6A9C7A0E-D0FA-AA28-1B68-DA778540A6F0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B6B26BF7-DDFE-E08E-31D0-A261A738A200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0C71E080-E560-8B98-C857-D3E1EE0457D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DDFCA69F-0D84-232D-CFA7-4B6BF7AB4555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8E816512-7582-AE85-CAC1-4106E8BD7804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91BF6DE-DE1E-67C6-F9D1-C27531E7550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87FDBE60-04EB-5BDD-6777-6B1BA63BFA33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9994DDE5-22C1-7750-7E63-30109EF892BC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401DE886-F246-92E5-7A23-8D546D0822E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CBA5FECF-C740-4B86-DF2F-61256A98F383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4011E1DE-73BC-7C43-1174-AB5717729D54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BC23AE59-5AF1-9C74-DB7D-0BE87071EAE6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C8BF3157-CA84-E988-18DB-AC64532E451A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ECEEB590-24E1-E4FC-5E0B-0B044B6B2495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9C3C94E7-8ECC-0BF4-CC13-F8525611C981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C4101479-652A-7C96-59A4-7AAC94D48600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F86796E0-857F-C9F4-9761-9CD42D49366C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7EF841E3-97C3-D6CA-4825-A5B3DEA84DA5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8E7C2952-EA80-1867-D31A-D237D67AA840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7B3B2589-7D82-DA97-AE02-32BBD32EC6DA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1B8610F4-874F-60C6-7F02-B4959EE59C25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B1A87620-7F92-BC9E-A33A-5B2BE168D5B5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B2E35E80-EAEA-8828-1820-0E1CD08B61F2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56717BFB-AE29-7E9F-CFFB-C6BAC0D977D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C6CD645-5A7F-0AEA-8149-4ED7291198B5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Final Application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36D2D-F21E-5C36-5E4C-41B0B4E706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07964-91FB-56DB-5DE5-94FC1DD0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22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6B1E2-85FE-6957-3850-8F67EACFD95B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cs typeface="Arial" panose="020B0604020202020204" pitchFamily="34" charset="0"/>
              </a:rPr>
              <a:t>Final Application: The "Future Risk Predictor" Dashboard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82AF3-66FA-083A-D740-7AF5791E13B3}"/>
              </a:ext>
            </a:extLst>
          </p:cNvPr>
          <p:cNvSpPr txBox="1"/>
          <p:nvPr/>
        </p:nvSpPr>
        <p:spPr>
          <a:xfrm>
            <a:off x="655776" y="1136734"/>
            <a:ext cx="11171506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/>
              <a:t>The final and most important result of our project was not just the models themselves, but making them usable. We integrated our best-performing models into a single, interactive Streamlit Dashboard.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EA096D-2E69-405D-69AC-16C1E1521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27" y="2051091"/>
            <a:ext cx="5123700" cy="20922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0EF74B-4BD1-A3D4-8430-7EDA3D857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375" y="4183879"/>
            <a:ext cx="5344098" cy="2085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F035AB-72F4-4183-3B44-7F331BC7C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27" y="4183295"/>
            <a:ext cx="5123700" cy="2085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20F62B-3C8D-324A-FA09-131CB4089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865" y="2051090"/>
            <a:ext cx="5333608" cy="20922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7834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AE687-25E3-8479-34F2-05743FCB7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B2598701-DCDF-3D06-EEFB-69E56CC4F1CE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CF6A23F-C4EE-4FAF-71E7-C4D5A4C3E0FC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F5E9708-11D9-9754-B51D-EA7292E8E83B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7ABFAD30-92E7-4C73-B734-4CA53CCA12D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89C93458-A0E0-9AD8-3A45-7D5419EEF414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1B5D4AD-E1E7-48EC-9D46-4F89FB8C301B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C66FB94-99CE-7EC5-E4DA-3099DB498019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83DD50AD-10BE-31E5-6672-C7004ED586F6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764E4D6E-1049-D6D5-577A-765073A5BD9D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DF30C0FE-8281-6FDE-F544-17CE967CA18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8E197258-4D49-72E5-B01C-72E3C6BD4E05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0A3C4C3-B70B-5837-2F74-CF4ACBE9BEE3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86C747E1-60D7-C2A5-998E-0F3F4154360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17724C7C-98B4-A57B-9BB8-6EBE059EF717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3EFB040D-DFD9-9E02-3B06-E83243D63BAA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4838A76-0998-C92F-7464-AC3731970158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F277D4FA-7F04-2DEA-D313-3F165D4A7311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F693FA60-5C2D-A02A-3213-9C5CCCD54A68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D23261EA-D8D7-B093-B387-E5E8DC0F3F29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49623A81-F2C5-CAC3-C154-652DC7D71F3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F3B5CCCC-30DD-2FD2-AF2E-960187556AD6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BCE5162E-EAB1-AABB-54FF-6E5FD5A3C21F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4B4DC4D-CA95-FC79-5CB3-2949791FB83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BF9DD37-749E-48A0-5AB1-841BD6ED046D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750AE59B-2FC5-EDD4-131D-C58854DCDECC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2E9CCB6A-352F-D5F9-F693-F8E441CCEEF8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6C163C0-C609-EA46-F7F5-357C2B665E35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2621D10D-7395-AD3B-D245-7CEB974098D0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40ECFFD1-37D4-9742-F02F-E856A6906393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73D7F13C-0976-5495-2C45-98A8A975E99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B04D83FB-1995-679C-69F4-3ABE653D8F7D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26EBBFEE-2423-CB5D-18C5-2D35E3FC5D1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DC119C05-84B9-EA38-267C-B41F733E327A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C2B758AC-5D3A-2118-8158-9BB42CEC60EF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22A2F696-2F6C-4FBD-4417-00F0209ADF0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685EA8F9-20DF-5BE2-CEB5-E2314EC634B4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779C321B-0D09-B054-BB18-E329EFB63B1E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A1A4442-620A-05C7-1731-F3DDB723947F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4B21262-3E4D-D0F4-8E4A-3CB8F7AB3ED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4C0A2578-5F14-AE27-BC73-734702B006AC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39F12152-AF75-CCF8-F816-7640EA506F7E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74468495-5D28-180C-6997-4616A61890E7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41B12567-A827-2E6E-F00B-C8788774A77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D29A3FBA-A3EB-90D2-CB8A-2883EA1802C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7795B1A0-93B2-3929-E9F7-4FB25EF1D96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0B6316C4-C995-98FE-8859-D9FBCCCACB8F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B737C0FF-6E31-1D70-7AB2-26C6EE0A766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62D85335-B5E5-309E-B75D-750848239AED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15E03063-CEC0-F79B-1930-56EF06C70AB2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C51EAD98-A659-914C-BD24-4D93E6FC50A2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42D2F60B-5205-2097-017C-F810D2681882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237528B7-5355-C385-2AFC-5D8C31E8CFCA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F4B9AA1C-DAC8-D73B-7CA6-207C3118E44C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8643D32C-618E-75E5-D582-FF7A489E9B1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A75674AA-14F7-0F0F-AB94-4C6476D149FF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CF9162FD-2C69-94B9-53C6-368BF52CB988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9439C77A-F1FC-26BD-F8CA-54ED4D8C882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9308D01E-E611-1BA1-8D1C-1CADF7C2C77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63F8EB8E-50F2-FA32-D6A6-59FBDCA0ADDD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21B914F6-6C59-D4AB-8F4C-ECEEFC76FD7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5DDF289D-97BF-B1C8-8A1C-ADB39BA3165B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B5334D7-DD62-8A04-3B6A-9220A9742DE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DA4D4F77-56C1-657A-D984-75190F2C6C4F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D576E4A2-14BD-F7AA-8FAB-C201A8032301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1A1923CE-437D-F308-D45D-41319DBFEDDB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ABD75A12-F0EB-3395-7407-DFB2AE711A72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601C4498-0BC6-9275-0F09-7A73270894B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964D9A34-4CCF-8D1F-A699-763D9A4AA771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DAB21758-EB7B-3558-E0F4-D709E3EC3BF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CF15DA98-F9AB-5282-E932-A6F2499E1FFA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04E08BEF-1C8C-806C-ECC4-A68465F26AD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E462692C-2734-27B9-3EDE-DE641891599F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DC8EBD0D-D2B0-7ED6-7604-5A5DDEC97C84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E9D27D86-9CE9-9001-A773-C6CE1673C04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4725F66-E138-04C1-99DD-1F26331AB562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Application: The "Future Risk Predictor"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5A9B1-5C44-F61A-B2E3-10A3055FB0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436D9-BDC1-D502-E26F-809AB10C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23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F6909-E3ED-3CA3-8C9F-6CFDE5018565}"/>
              </a:ext>
            </a:extLst>
          </p:cNvPr>
          <p:cNvSpPr txBox="1"/>
          <p:nvPr/>
        </p:nvSpPr>
        <p:spPr>
          <a:xfrm>
            <a:off x="364718" y="889323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cs typeface="Arial" panose="020B0604020202020204" pitchFamily="34" charset="0"/>
              </a:rPr>
              <a:t>Dashboard Feature: The Future Risk Predictor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5145B-F2C9-89E8-BF32-D8BA5E8C2954}"/>
              </a:ext>
            </a:extLst>
          </p:cNvPr>
          <p:cNvSpPr txBox="1"/>
          <p:nvPr/>
        </p:nvSpPr>
        <p:spPr>
          <a:xfrm>
            <a:off x="680439" y="1235496"/>
            <a:ext cx="5228655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tool is the final output of our project. It allows any user to get an instant prediction based on our models.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r>
              <a:rPr lang="en-US" dirty="0"/>
              <a:t> It combines our two best-performing models: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Gradient Boosting Regressor</a:t>
            </a:r>
            <a:r>
              <a:rPr lang="en-US" dirty="0"/>
              <a:t> runs to predict the </a:t>
            </a:r>
            <a:r>
              <a:rPr lang="en-US" i="1" dirty="0"/>
              <a:t>specific number</a:t>
            </a:r>
            <a:r>
              <a:rPr lang="en-US" dirty="0"/>
              <a:t> of excess deaths.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MLP Classifier</a:t>
            </a:r>
            <a:r>
              <a:rPr lang="en-US" dirty="0"/>
              <a:t> runs to assess the </a:t>
            </a:r>
            <a:r>
              <a:rPr lang="en-US" i="1" dirty="0"/>
              <a:t>overall risk level</a:t>
            </a:r>
            <a:r>
              <a:rPr lang="en-US" dirty="0"/>
              <a:t> ('Low', 'Medium', or 'High').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user simply selects the inputs from the dropdown menus.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6CF41-C081-F0DB-6432-97D6A42A8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765" y="1786289"/>
            <a:ext cx="6007735" cy="26007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CCB8D9-8327-615F-9C06-3B8A36534450}"/>
              </a:ext>
            </a:extLst>
          </p:cNvPr>
          <p:cNvSpPr txBox="1"/>
          <p:nvPr/>
        </p:nvSpPr>
        <p:spPr>
          <a:xfrm>
            <a:off x="364718" y="5982519"/>
            <a:ext cx="1237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rgbClr val="1F1F1F"/>
                </a:solidFill>
                <a:effectLst/>
              </a:rPr>
              <a:t> </a:t>
            </a:r>
            <a:r>
              <a:rPr lang="en-IN" b="1" dirty="0">
                <a:solidFill>
                  <a:srgbClr val="1F1F1F"/>
                </a:solidFill>
              </a:rPr>
              <a:t>Deployed Dashboard Link: </a:t>
            </a:r>
            <a:r>
              <a:rPr lang="en-IN" dirty="0">
                <a:solidFill>
                  <a:srgbClr val="1F1F1F"/>
                </a:solidFill>
                <a:hlinkClick r:id="rId4"/>
              </a:rPr>
              <a:t>https://pratham-covidexcessdeathsdashboard.streamlit.app/</a:t>
            </a:r>
            <a:r>
              <a:rPr lang="en-IN" dirty="0">
                <a:solidFill>
                  <a:srgbClr val="1F1F1F"/>
                </a:solidFill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673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EA7A-3F78-CBD9-4800-3A8C2E392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AE7606FF-F3C3-14A6-935F-8E55BA4272D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57F060E-05D9-6A49-5182-4E907D4AF0AC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D1D4529-7B51-6A36-8CCB-22C1C95664AA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5E63844C-7172-D0E0-F135-75F15BC82DE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41FC4BCC-4EA1-B5D1-EEE8-944D369F036C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4FC7FB78-D10D-8EAF-5E2B-3D6775AC068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B53D6072-3512-CE99-0E34-D0D8DE0604FD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218D5FE7-E1D6-9B38-524C-EDD754898ACA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B7985C73-A5BD-BE21-582C-422417DA460D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C3312983-1195-2FA0-0C66-F11791CF54D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13855CD4-5A32-CDA8-5E82-B44CED3C8646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A2982275-CFC0-DAFA-E849-7A6A729E6453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678CD4DC-0920-EDDE-0044-D79B076ACD66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0A736DCB-9299-6371-1BDA-408B64C3C2BE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6BCD1518-9F8C-0424-D998-387E670242E7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2168834A-7A9B-544F-5AB6-866C6BC21C12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D484B65-C2D3-1478-68EC-1DD7D8D2A83E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950B2B31-6732-E0CB-7CB6-B12C51801CDB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87A56DD9-E04A-D788-B4CF-E4215A696E4F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49E6077-725C-300B-AEB3-5ADAF5AB98D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D55F9E4D-4DE5-48FC-878A-6E8B6B2D6E96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FBB5046F-2BBB-275A-88DB-A701B2078B83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587DC347-B424-A631-EF29-F2EEE014DB7C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D58599DA-0EC4-444D-2443-4CBFBA02EE1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7E298994-420E-E83C-A53B-9A4815E3B348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F600BB77-F824-620B-33DA-2D1516BAB132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ABFE3137-6CFE-AFC1-7BF4-945EF180001A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6EAAC4FF-A7F7-1274-6078-B9027F85072D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C3275466-0507-B500-A603-797F172DFC5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8A2DAD5A-D6F1-3DE3-E606-D655587A2C6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84138A1F-E121-1EA7-10A3-03B7A6AAC163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8F2574BD-23EF-7737-D5EF-F6498E58C73C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35C46D6D-B855-2C83-9E56-8456ED6AD5DA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F568F76-36EE-D040-5764-710803221817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72C6D2E-5817-96D2-DCE4-F40B90170936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EFE878E4-4D10-62C0-FEB4-14434AF69934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AEE35BFF-7CA9-5292-69B4-B67B73FACFBA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A69AD19E-0A51-F29B-3C6C-145645902624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61ED278-E7D9-3259-1639-C7E6ED8CE08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7208C99C-60EE-4E45-8D20-325B2681F80F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8BDA89EB-531E-1E05-414D-65D22E3A0DC9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9ECA4E8F-0CEE-B838-8BB1-6EF74E9A2115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786B2D03-4AF8-8999-8A76-08216F0FAEC0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CAC7E53A-B44C-231F-56A8-B4CE7BBAF9C5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C8E51634-C97C-0D28-3DE3-D23B934EF0B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EAD6B0A8-555B-F6A0-F94C-6E0994CAD525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9AB73402-239C-6A2C-2E4F-5118AF453C98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996C55F9-CD0D-974D-7648-2B8019646BA4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8A28ABC9-BD36-6B4A-04FC-8EEF807FEED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253286C1-930D-9E1F-AD27-B867E0A08636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D9E0F81D-9474-7E4F-D41C-0ADA33643604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CB47C8A0-FCBB-22FB-0241-EB3CA89CF3AB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47DF18EC-FC92-81A8-3730-BA5BAE90B7A5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2BEED04E-90D1-495B-49B4-B42D062632AC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F256AE96-E7D9-FA50-F901-E67DD11572B1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94307D7E-D3BE-2183-1605-1F209E709099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352BFE40-95BC-3EA3-1578-7DAA04D2DD3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A60E8D90-AC03-5239-9487-4B668AA327FB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56B5D97B-F2E2-9166-CEDF-E825051FA7B8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A2B3EF8D-F1B0-6A81-9BF3-0A035B50284A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ACB0B2E1-9FE9-E96E-F0BD-38317E61258E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9499500E-62FF-BE9A-9405-DC03B51D533E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4ADF8941-FFF8-60D7-BEA4-886A1321F5E7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5D22A196-4DF8-CD2E-0635-B82354BC544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616B1666-0A8D-AF7E-934F-450C4432665A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23276473-671E-EC6F-5398-1E0E194BAA0F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256C0F17-EE4D-3152-6345-60E2164CA03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D586B14D-7885-237D-7097-70109F10FE59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50E5BEDC-7ADF-AABF-9B9C-CBF7118AD105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8C5B189C-6669-B31A-5885-05964DD13408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81AD99A0-A3C5-BC1C-8C75-5C9E53C72FA6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509633F1-A4B2-5796-0D9F-4034D7657138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3BEAADD6-2BFA-CD81-6276-7EF5B461B6A9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7C00F862-9E6E-043D-F51F-F6225FF2B099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9DDB3AA-6963-6703-8A25-3DEF92C25545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Key Takeaways and Future Work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ECA47-8F06-B4E0-3EF7-82771C7BA4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ACC37-93E3-09A9-8E1D-3C630886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24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6FDC9-FE53-4A3B-6E54-9612CC1D114F}"/>
              </a:ext>
            </a:extLst>
          </p:cNvPr>
          <p:cNvSpPr txBox="1"/>
          <p:nvPr/>
        </p:nvSpPr>
        <p:spPr>
          <a:xfrm>
            <a:off x="649437" y="1021335"/>
            <a:ext cx="11193782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Takeaway 1 (EDA):</a:t>
            </a:r>
            <a:r>
              <a:rPr lang="en-US" dirty="0"/>
              <a:t> Excess mortality was not uniform. Our analysis confirmed that the impact was concentrated in specific countries (like India, USA) and demographic groups (overwhelmingly older, male populations).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Takeaway 2 (ML Models):</a:t>
            </a:r>
            <a:r>
              <a:rPr lang="en-US" dirty="0"/>
              <a:t> No single model is best for all tasks.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Gradient Boosting</a:t>
            </a:r>
            <a:r>
              <a:rPr lang="en-US" dirty="0"/>
              <a:t> was best for the precision task of </a:t>
            </a:r>
            <a:r>
              <a:rPr lang="en-US" i="1" dirty="0"/>
              <a:t>regression</a:t>
            </a:r>
            <a:r>
              <a:rPr lang="en-US" dirty="0"/>
              <a:t>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MLP Classifier (Neural Net)</a:t>
            </a:r>
            <a:r>
              <a:rPr lang="en-US" dirty="0"/>
              <a:t> was best for the nuanced task of </a:t>
            </a:r>
            <a:r>
              <a:rPr lang="en-US" i="1" dirty="0"/>
              <a:t>classification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Takeaway 3 (Application):</a:t>
            </a:r>
            <a:r>
              <a:rPr lang="en-US" dirty="0"/>
              <a:t> The true value is achieved when models are made accessible. Our Streamlit dashboard successfully translates complex predictions into a simple, usable tool for analysis and decision-making.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FFDC5-8949-EE78-D96C-0C46147FC96C}"/>
              </a:ext>
            </a:extLst>
          </p:cNvPr>
          <p:cNvSpPr txBox="1"/>
          <p:nvPr/>
        </p:nvSpPr>
        <p:spPr>
          <a:xfrm>
            <a:off x="348781" y="760185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Project Conclusion &amp; Key Takeaways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180C1-7051-278E-57BD-B73B48612F23}"/>
              </a:ext>
            </a:extLst>
          </p:cNvPr>
          <p:cNvSpPr txBox="1"/>
          <p:nvPr/>
        </p:nvSpPr>
        <p:spPr>
          <a:xfrm>
            <a:off x="685152" y="4284632"/>
            <a:ext cx="10901439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Integrate New Features:</a:t>
            </a:r>
            <a:r>
              <a:rPr lang="en-US" dirty="0"/>
              <a:t> Add economic data (like GDP, healthcare spending per capita) or comorbidity data (like diabetes or smoking rates) to see if we can build even more accurate predictive models.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Time-Series Forecasting:</a:t>
            </a:r>
            <a:r>
              <a:rPr lang="en-US" dirty="0"/>
              <a:t> Use models like ARIMA or LSTM to forecast excess death trends into the future, rather than just for a specific demographic.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38BD9-49A4-1B05-0AE4-4593F84F21A4}"/>
              </a:ext>
            </a:extLst>
          </p:cNvPr>
          <p:cNvSpPr txBox="1"/>
          <p:nvPr/>
        </p:nvSpPr>
        <p:spPr>
          <a:xfrm>
            <a:off x="348781" y="3979196"/>
            <a:ext cx="615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Future 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985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3A1C8-C759-E5DA-BDE3-7D272EB85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D8473182-F487-A02A-F3FA-4F6177F71A61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15B9292-E587-2FDB-7209-6B75A323739C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4533E4E8-C16F-4D20-3350-6DEA0E4FC14E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1FEB39C7-5C7C-8D33-5241-A92C4361668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F7EEC9C0-82C1-0E63-9374-1D2991287015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116F6DB9-BF8F-B320-03F3-8B96C3586339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09E48FCB-9A98-8A4A-93AF-1B4139B95BC2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62987511-B7E2-CFE3-7DA4-DBAD27E947C6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49347A5B-FED5-7A7F-0070-EDCAD180104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EFD2D37D-5AE8-0252-63D2-5C1C62BF0BA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54A8218B-526B-9B04-5B00-4F90E06318B0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DB328E4B-3D92-F86E-4C62-6792B8A5D420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01DD1E27-6333-C505-41A2-EB828B8B852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0BE70EEA-6D6B-4410-1AAE-2F3236960C8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FCD61E65-E6D5-814B-4593-EED08FB0F8F4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A7EC85F6-F404-E919-D486-048F54D861CE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2CF2A918-21D4-1C7B-173B-DC45AAC46DD4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9A192829-673D-1219-3C0D-7245D906E530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B642797-60DB-9808-178C-E22C3A97A1A3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622CD364-C62A-40E8-6549-73849364EBD2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373EE37B-51DF-78EF-4507-517BC6E4013F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F7860B4-5F5F-039B-E5F7-A20628702C49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B5CC4C02-819E-4127-DFE9-45B67BB59CE5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60EC4BAB-42DD-A345-DDE0-9E6C9385AAF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6CB8B18C-46F8-874E-BA59-CA6DA96AB41C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FE8CBA53-1D4C-5F36-EBBD-F871B646A375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4542C78C-8B89-0804-5A46-79255AF5DE14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0A031875-0AF0-2DF2-C878-58A73C51248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2A41FEA3-3809-D4BC-323A-6467CABD1CE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3CDFB354-9D41-229F-CF22-778666D7B6F0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3C2D0224-17AE-EB3A-6915-D2FC3F364B6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487C2A17-2631-64E3-4EC3-C9B5FDBA75E8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86BC5C5F-E740-D425-D466-178416D72BC9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C2D1972-ED99-C630-7D6B-EDEA0D3232CD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5106F4CC-0E11-2A23-1B09-F3C0B4DEDF84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70BC27FE-8A85-7DA8-5AFC-D1A1532A42F2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C88EF017-5B8B-CB2D-A958-43A648AE70EF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88007102-D53D-3AF1-841B-75BBFA5ACB96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FD99B3F-6D12-0DAC-571D-F7575280988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BC7D45DF-BEC9-0396-44EC-D7DEBC536152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099FCB9B-1E21-C06C-EA5E-BB7E7202B34A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211E4C89-5448-2B2C-5806-C5475638B883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FA55DA35-6CF0-A9BE-DC6D-20D15EBD572B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F2BF1C75-E310-D760-6140-C94C2A9CE8D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B24ECBF0-0060-7C7A-33FA-97C680B47E6A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D65BD60-61B7-7C93-162B-675F64D91DD0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E88A3F7E-7DD6-3C45-2BFC-8E663897BBD5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995C7A54-D024-391A-6F9C-CBBBE583005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90BF9318-9A3B-3FC4-05E2-DB20ACCE159F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4D946E64-0034-5B08-C8A9-0D3D2DE70D3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47AD01D5-8A36-4242-A627-724C3FA04584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79B948EF-02BB-4E68-C5BF-27C65E245CB5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357E3C52-37B8-AE57-6952-6B499BC4A381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108DD7D3-D763-E43A-0BC4-A6EFD26A8D8A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B19EBEFF-E38D-B5C7-E2DA-B89DBCD4A8CB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E1A58983-8061-9915-67AD-86740B0A7BB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499C23D1-BC7E-02FD-31C8-F6AD842F0BE6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BB2368F0-B1C0-501C-CF15-05491B65C76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4924F121-607D-8099-C1DF-0FDCEDEED2E6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82B8D650-3E23-17EF-4C9F-A618B4F98191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809A1BCA-42F0-0B16-7C8A-3357D17BCE00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8F515123-E5DB-0E2A-5325-260293757F72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44DDF6D3-A1FF-EFA9-527B-9114245DBD35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E862E02E-0014-31F2-FDB8-9D97FE7ABDC0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EA15CF83-A537-9117-E181-1BC3B10C116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5AA4B9C5-5C95-5908-8B24-F5D720B799E2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8C21F1DB-E635-CDD4-DE87-B8B5441E1DA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5B9668CE-C08E-CBD6-1708-500E06C2ABDE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AEEA774F-9DB8-94D8-9300-CB66BC623C6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4B7341E3-E66D-A93F-C522-50709F8D848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887F1747-F5AD-2342-F6A1-27089FADFAA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0FC1501E-2708-6317-1A26-568AF06B0391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305F43E3-BC9D-01FE-7BEE-BCDC6E61F80B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02FBBE00-0BD4-99FC-52C2-B596F9025B46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196E32E-0F72-D14B-7083-4207B8A45E15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Appendix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AC240-9DC7-B2EA-2600-980B333DD9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30859-41F2-5D90-996C-5407BD07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25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6F6C0-3BF9-C4EA-E4CD-F5FBAFAD83FC}"/>
              </a:ext>
            </a:extLst>
          </p:cNvPr>
          <p:cNvSpPr txBox="1"/>
          <p:nvPr/>
        </p:nvSpPr>
        <p:spPr>
          <a:xfrm>
            <a:off x="29587" y="928685"/>
            <a:ext cx="1237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rgbClr val="1F1F1F"/>
                </a:solidFill>
                <a:effectLst/>
              </a:rPr>
              <a:t> </a:t>
            </a:r>
            <a:r>
              <a:rPr lang="en-IN" b="1" dirty="0">
                <a:solidFill>
                  <a:srgbClr val="1F1F1F"/>
                </a:solidFill>
              </a:rPr>
              <a:t>Project GitHub Link: </a:t>
            </a:r>
            <a:r>
              <a:rPr lang="en-IN" dirty="0">
                <a:solidFill>
                  <a:srgbClr val="1F1F1F"/>
                </a:solidFill>
                <a:hlinkClick r:id="rId3"/>
              </a:rPr>
              <a:t>https://github.com/PrathamAgrawal51/Pratham_Agrawal_22070521078_ML_CA1</a:t>
            </a:r>
            <a:r>
              <a:rPr lang="en-IN" b="1" dirty="0">
                <a:solidFill>
                  <a:srgbClr val="1F1F1F"/>
                </a:solidFill>
              </a:rPr>
              <a:t>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2F44D-54AB-3FFF-7025-55D74962AF38}"/>
              </a:ext>
            </a:extLst>
          </p:cNvPr>
          <p:cNvSpPr txBox="1"/>
          <p:nvPr/>
        </p:nvSpPr>
        <p:spPr>
          <a:xfrm>
            <a:off x="29587" y="1405581"/>
            <a:ext cx="1237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rgbClr val="1F1F1F"/>
                </a:solidFill>
                <a:effectLst/>
              </a:rPr>
              <a:t> </a:t>
            </a:r>
            <a:r>
              <a:rPr lang="en-IN" b="1" dirty="0">
                <a:solidFill>
                  <a:srgbClr val="1F1F1F"/>
                </a:solidFill>
              </a:rPr>
              <a:t>Deployed Dashboard Link: </a:t>
            </a:r>
            <a:r>
              <a:rPr lang="en-IN" dirty="0">
                <a:solidFill>
                  <a:srgbClr val="1F1F1F"/>
                </a:solidFill>
                <a:hlinkClick r:id="rId4"/>
              </a:rPr>
              <a:t>https://pratham-covidexcessdeathsdashboard.streamlit.app/</a:t>
            </a:r>
            <a:r>
              <a:rPr lang="en-IN" dirty="0">
                <a:solidFill>
                  <a:srgbClr val="1F1F1F"/>
                </a:solidFill>
              </a:rPr>
              <a:t>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927A7-B767-9A22-464B-8D1A0F44756F}"/>
              </a:ext>
            </a:extLst>
          </p:cNvPr>
          <p:cNvSpPr txBox="1"/>
          <p:nvPr/>
        </p:nvSpPr>
        <p:spPr>
          <a:xfrm>
            <a:off x="52276" y="1882477"/>
            <a:ext cx="1237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rgbClr val="1F1F1F"/>
                </a:solidFill>
                <a:effectLst/>
              </a:rPr>
              <a:t> </a:t>
            </a:r>
            <a:r>
              <a:rPr lang="en-IN" b="1" i="0" dirty="0">
                <a:solidFill>
                  <a:srgbClr val="1F1F1F"/>
                </a:solidFill>
                <a:effectLst/>
              </a:rPr>
              <a:t>Authentic Dataset Link: </a:t>
            </a:r>
            <a:r>
              <a:rPr lang="en-IN" b="0" i="0" dirty="0">
                <a:solidFill>
                  <a:srgbClr val="0B57D0"/>
                </a:solidFill>
                <a:effectLst/>
                <a:hlinkClick r:id="rId5"/>
              </a:rPr>
              <a:t>https://www.who.int/data/sets/global-excess-deaths-associated-with-covid-19-modelled-estimates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84E2E2-D046-07FB-CE56-EF16DC168C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9498" y="2469980"/>
            <a:ext cx="6284618" cy="27205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458B42-AE36-06C9-D689-712505366139}"/>
              </a:ext>
            </a:extLst>
          </p:cNvPr>
          <p:cNvSpPr txBox="1"/>
          <p:nvPr/>
        </p:nvSpPr>
        <p:spPr>
          <a:xfrm>
            <a:off x="9495526" y="5429192"/>
            <a:ext cx="3228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Pratham Agrawal</a:t>
            </a:r>
          </a:p>
          <a:p>
            <a:pPr algn="ctr"/>
            <a:r>
              <a:rPr lang="en-US" altLang="ko-KR" sz="1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PRN: 22070521078</a:t>
            </a:r>
          </a:p>
          <a:p>
            <a:pPr algn="ctr"/>
            <a:r>
              <a:rPr lang="en-US" altLang="ko-KR" sz="1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Sem: VII C</a:t>
            </a:r>
          </a:p>
        </p:txBody>
      </p:sp>
    </p:spTree>
    <p:extLst>
      <p:ext uri="{BB962C8B-B14F-4D97-AF65-F5344CB8AC3E}">
        <p14:creationId xmlns:p14="http://schemas.microsoft.com/office/powerpoint/2010/main" val="1825288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431BD-8C3D-6891-3B56-607AF71CC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59674B8E-DA01-3B97-59B1-73EACEFE1E1E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239AC20-8847-477D-35A0-53B2358B2E84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14B0597-9252-2CB2-45AA-BB797A88EE77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1E571ECC-5192-97A6-59AD-C0AC520506DA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C34FD0B8-D687-1BA8-F6C5-3E045CAE02BA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02B1F36E-4488-0DE3-1751-3ADFE9AD5C03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A82A954F-5761-6524-A029-8900B496B959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D0D75BB9-7DEF-1973-3351-C65F15A6FB2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1F55F821-8BA1-E217-BF19-B120536A865B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9E32A1A-AFAB-C5DF-00E6-8F2C8D1ECE42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D30DEB10-FB7A-E69F-B4F4-18328BBEAD91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8D4B774B-D149-2DB4-024F-350DF3D83DA6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B57F428E-820D-1272-7841-2CD964DFC7E1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CF4E6D39-75EB-74A1-DB7D-B8E9DA24AD5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0404BEA7-D6BD-9083-2AA8-554D53FB825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77909B71-B980-150C-4615-3CF4674B28A5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DEEEE31-8D73-56A7-A1B6-B35785AA54C7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CB0EE4FC-D1A3-A1A1-CC69-29380963E63D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B20F1966-31B6-51DA-DD57-F0434A48D828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6B444E6B-20AB-C0E6-35F9-44AC4F31CA13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095629BC-A645-C501-05F6-A3C4CB9B4C40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F1A7FAEE-19EE-0AF4-F4C9-7219CE0EF369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97D2D4E2-AB12-435D-2313-89291B8C9B8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A5A5BAEF-5957-7CBF-5E7F-E2EBD38DFA60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CF03D042-E596-2D71-D8D7-33B1511A56E4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035C70C2-BE98-FBDE-96EA-88B81AB4B09B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37DBAC98-0FC3-7766-92DC-E9CBA09AAB91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9DB91B26-1412-B8EC-F507-4D9EAA522BE6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67132BCC-A12D-490E-8776-64F690D8344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A0A8DEE7-40C9-E5AE-5511-C31279E960CE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1158717F-7800-22DE-F980-7A219BF332C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8FED3B93-0E7E-A183-63EB-92F7256DF056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C58323F-EF15-0C67-7357-DF652F885990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D0B9F207-AF56-4965-BAD9-6D73F3CF8557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E2590396-10A3-8843-FF3A-6E0676A67FA8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D46E3EB4-6FDD-F1F3-A820-2D69ABB4F0B7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F4034875-0426-9123-4D95-BD18786BA437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800C9477-E4FE-E335-10D2-8D57D8C2ADA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BA801FE-D382-258F-41FD-99E9141EB04B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A89ED2D0-1307-9B57-C428-55F4412C17BB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8891CF1C-4ED1-6CE8-034A-715497DDECE1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F2F021AC-51C6-0455-0DC5-B2E2A43D1AE5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374D6A9F-A1E1-41E0-E863-3A47F77A1F6F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51EC8832-310F-EC0C-CF1F-A2CEDB698334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1938E9CE-E0A3-2E71-0502-7FD31C1C76C4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9DF0BCD7-F1B1-56A1-6D91-AE61A8F504D3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3EC41AED-4862-7C8A-5AFE-ABAD304DA1D3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C5BCE335-E236-5508-C8B3-061424517845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C27557DE-2466-ABBF-070B-E04C20436C6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B4BBDBC1-F142-727A-6AF9-CA12C5CF85F5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3F768B9E-FF04-BBF0-4132-D3FEA0ED46A1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5CC0B799-DBA4-75D6-97C7-AD16C22F1B27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B5164580-5AEA-628A-FC99-2B2779D64B85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4CD9F9CA-E239-5874-8773-A71C3B058FA9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A0A049E6-7304-5600-CE9B-C838C27CAD5A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8634E482-4295-587C-6681-D284D533E24D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51C6A4A3-5AE0-D4DD-23AB-6C8C779568B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F087E5D6-1CDF-9CC3-257A-D5C8F31E1B95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1A29C4C1-5770-CF7A-26DA-1D84FDADBDFD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F6F84FE5-7BE2-ACC3-EEF7-1C7111843CB5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67F46A96-369B-3CDA-9174-3577C916B780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27EEF21E-D87D-BF25-1970-3564CF017D82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021260B3-8081-191A-9F33-931227B60C6F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DA684DA5-3328-683D-0679-FACCA8B31A9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DF4310FA-D963-6A4C-9137-9869B589A837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E5760DEC-807E-EF13-0B7C-4809BAFDC082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F414BAED-6B96-2CE7-C59A-2E1DFB02AB15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9DEFA1A6-4F55-5BA7-9F4E-4F6D7B79D90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02F716A4-BF57-2CEC-CD32-009A9667D41E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41CCE3DF-E50C-B11D-D2D9-CA0A8156982E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1AFAF5A5-0CDC-54A0-651B-59F23FB6B46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7398CAFB-100C-7B62-3262-E55D84E2E19D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4FD1F5A2-AE55-280D-A65B-2EE48EE57B8B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D1C1B28A-4272-4821-81A8-BE3466B4B9C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1D2FA94-3132-5ADB-1AD6-3F74448A3558}"/>
              </a:ext>
            </a:extLst>
          </p:cNvPr>
          <p:cNvSpPr/>
          <p:nvPr/>
        </p:nvSpPr>
        <p:spPr>
          <a:xfrm>
            <a:off x="0" y="2552721"/>
            <a:ext cx="12192000" cy="11079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6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ko-KR" altLang="en-US" sz="6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AD975-43A8-52D6-8E54-815C7896C2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2698636" cy="115550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FFD6D-021C-0594-9BA6-D115EDF0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26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2039-456E-8E8A-EE8D-C3AA88F8ECA5}"/>
              </a:ext>
            </a:extLst>
          </p:cNvPr>
          <p:cNvSpPr txBox="1"/>
          <p:nvPr/>
        </p:nvSpPr>
        <p:spPr>
          <a:xfrm>
            <a:off x="9415733" y="5410795"/>
            <a:ext cx="3429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Pratham Agrawal</a:t>
            </a:r>
          </a:p>
          <a:p>
            <a:pPr algn="ctr"/>
            <a:r>
              <a:rPr lang="en-US" altLang="ko-KR" sz="1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PRN: 22070521078</a:t>
            </a:r>
          </a:p>
          <a:p>
            <a:pPr algn="ctr"/>
            <a:r>
              <a:rPr lang="en-US" altLang="ko-KR" sz="1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Sem: VII C</a:t>
            </a:r>
          </a:p>
        </p:txBody>
      </p:sp>
    </p:spTree>
    <p:extLst>
      <p:ext uri="{BB962C8B-B14F-4D97-AF65-F5344CB8AC3E}">
        <p14:creationId xmlns:p14="http://schemas.microsoft.com/office/powerpoint/2010/main" val="137207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2642</Words>
  <Application>Microsoft Office PowerPoint</Application>
  <PresentationFormat>Widescreen</PresentationFormat>
  <Paragraphs>324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Pratham</dc:creator>
  <cp:lastModifiedBy>Pratham Agrawal</cp:lastModifiedBy>
  <cp:revision>321</cp:revision>
  <dcterms:created xsi:type="dcterms:W3CDTF">2024-06-03T04:50:38Z</dcterms:created>
  <dcterms:modified xsi:type="dcterms:W3CDTF">2025-11-01T12:48:46Z</dcterms:modified>
</cp:coreProperties>
</file>